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8b5e06e6da4559" /><Relationship Type="http://schemas.openxmlformats.org/officeDocument/2006/relationships/extended-properties" Target="/docProps/app.xml" Id="Re1c0f330d53a4952" /><Relationship Type="http://schemas.openxmlformats.org/officeDocument/2006/relationships/officeDocument" Target="/ppt/presentation.xml" Id="Ra5ae2260753e4825" /></Relationships>
</file>

<file path=ppt/presentation.xml><?xml version="1.0" encoding="utf-8"?>
<p:presentation xmlns:p="http://schemas.openxmlformats.org/presentationml/2006/main">
  <p:sldMasterIdLst>
    <p:sldMasterId xmlns:r="http://schemas.openxmlformats.org/officeDocument/2006/relationships" id="2147483648" r:id="R128cc5261edb4985"/>
  </p:sldMasterIdLst>
  <p:notesMasterIdLst>
    <p:notesMasterId xmlns:r="http://schemas.openxmlformats.org/officeDocument/2006/relationships" r:id="R81f6d7f9006347a3"/>
  </p:notesMasterIdLst>
  <p:sldIdLst>
    <p:sldId xmlns:r="http://schemas.openxmlformats.org/officeDocument/2006/relationships" id="256" r:id="Rf6201cd95c504ef4"/>
    <p:sldId xmlns:r="http://schemas.openxmlformats.org/officeDocument/2006/relationships" id="257" r:id="R0687bfa97bfe48e3"/>
    <p:sldId xmlns:r="http://schemas.openxmlformats.org/officeDocument/2006/relationships" id="258" r:id="Rfae9de3b90c44341"/>
    <p:sldId xmlns:r="http://schemas.openxmlformats.org/officeDocument/2006/relationships" id="259" r:id="R3360c4079c2041f2"/>
    <p:sldId xmlns:r="http://schemas.openxmlformats.org/officeDocument/2006/relationships" id="260" r:id="Rcc1041f146634436"/>
    <p:sldId xmlns:r="http://schemas.openxmlformats.org/officeDocument/2006/relationships" id="261" r:id="Rc0adee7d73374526"/>
    <p:sldId xmlns:r="http://schemas.openxmlformats.org/officeDocument/2006/relationships" id="262" r:id="R739f7058af7249c3"/>
    <p:sldId xmlns:r="http://schemas.openxmlformats.org/officeDocument/2006/relationships" id="263" r:id="R3df9bcb79fe9421b"/>
    <p:sldId xmlns:r="http://schemas.openxmlformats.org/officeDocument/2006/relationships" id="264" r:id="R685902465b664d7b"/>
    <p:sldId xmlns:r="http://schemas.openxmlformats.org/officeDocument/2006/relationships" id="265" r:id="R1386c409dfe44877"/>
    <p:sldId xmlns:r="http://schemas.openxmlformats.org/officeDocument/2006/relationships" id="266" r:id="Rbe97877905024655"/>
    <p:sldId xmlns:r="http://schemas.openxmlformats.org/officeDocument/2006/relationships" id="267" r:id="Rcf7b700dc06c4f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a06a2514c94b5a" /><Relationship Type="http://schemas.openxmlformats.org/officeDocument/2006/relationships/slideMaster" Target="/ppt/slideMasters/slideMaster1.xml" Id="R128cc5261edb4985" /><Relationship Type="http://schemas.openxmlformats.org/officeDocument/2006/relationships/notesMaster" Target="/ppt/notesMasters/notesMaster1.xml" Id="R81f6d7f9006347a3" /><Relationship Type="http://schemas.openxmlformats.org/officeDocument/2006/relationships/presProps" Target="/ppt/presProps.xml" Id="R653ca8caf40d4603" /><Relationship Type="http://schemas.openxmlformats.org/officeDocument/2006/relationships/tableStyles" Target="/ppt/tableStyles.xml" Id="R0527523807074301" /><Relationship Type="http://schemas.openxmlformats.org/officeDocument/2006/relationships/slide" Target="/ppt/slides/slide1.xml" Id="Rf6201cd95c504ef4" /><Relationship Type="http://schemas.openxmlformats.org/officeDocument/2006/relationships/slide" Target="/ppt/slides/slide2.xml" Id="R0687bfa97bfe48e3" /><Relationship Type="http://schemas.openxmlformats.org/officeDocument/2006/relationships/slide" Target="/ppt/slides/slide3.xml" Id="Rfae9de3b90c44341" /><Relationship Type="http://schemas.openxmlformats.org/officeDocument/2006/relationships/slide" Target="/ppt/slides/slide4.xml" Id="R3360c4079c2041f2" /><Relationship Type="http://schemas.openxmlformats.org/officeDocument/2006/relationships/slide" Target="/ppt/slides/slide5.xml" Id="Rcc1041f146634436" /><Relationship Type="http://schemas.openxmlformats.org/officeDocument/2006/relationships/slide" Target="/ppt/slides/slide6.xml" Id="Rc0adee7d73374526" /><Relationship Type="http://schemas.openxmlformats.org/officeDocument/2006/relationships/slide" Target="/ppt/slides/slide7.xml" Id="R739f7058af7249c3" /><Relationship Type="http://schemas.openxmlformats.org/officeDocument/2006/relationships/slide" Target="/ppt/slides/slide8.xml" Id="R3df9bcb79fe9421b" /><Relationship Type="http://schemas.openxmlformats.org/officeDocument/2006/relationships/slide" Target="/ppt/slides/slide9.xml" Id="R685902465b664d7b" /><Relationship Type="http://schemas.openxmlformats.org/officeDocument/2006/relationships/slide" Target="/ppt/slides/slide10.xml" Id="R1386c409dfe44877" /><Relationship Type="http://schemas.openxmlformats.org/officeDocument/2006/relationships/slide" Target="/ppt/slides/slide11.xml" Id="Rbe97877905024655" /><Relationship Type="http://schemas.openxmlformats.org/officeDocument/2006/relationships/slide" Target="/ppt/slides/slide12.xml" Id="Rcf7b700dc06c4f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7e3982686f4b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9d59506f6e4546" /><Relationship Type="http://schemas.openxmlformats.org/officeDocument/2006/relationships/notesMaster" Target="/ppt/notesMasters/notesMaster1.xml" Id="Rd27db3077b4648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ed697671d241be" /><Relationship Type="http://schemas.openxmlformats.org/officeDocument/2006/relationships/notesMaster" Target="/ppt/notesMasters/notesMaster1.xml" Id="R16bcf8e9345a40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f06574cc7d462d" /><Relationship Type="http://schemas.openxmlformats.org/officeDocument/2006/relationships/notesMaster" Target="/ppt/notesMasters/notesMaster1.xml" Id="R9d223123e9134e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63131588c6450d" /><Relationship Type="http://schemas.openxmlformats.org/officeDocument/2006/relationships/notesMaster" Target="/ppt/notesMasters/notesMaster1.xml" Id="R45055211133d49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c716e30330479d" /><Relationship Type="http://schemas.openxmlformats.org/officeDocument/2006/relationships/notesMaster" Target="/ppt/notesMasters/notesMaster1.xml" Id="R0a57640a020f45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232e057c4141b1" /><Relationship Type="http://schemas.openxmlformats.org/officeDocument/2006/relationships/notesMaster" Target="/ppt/notesMasters/notesMaster1.xml" Id="Rb9b8453664e947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ce37a64a94448b" /><Relationship Type="http://schemas.openxmlformats.org/officeDocument/2006/relationships/notesMaster" Target="/ppt/notesMasters/notesMaster1.xml" Id="R6de4668d6a3b48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0e781bff314943" /><Relationship Type="http://schemas.openxmlformats.org/officeDocument/2006/relationships/notesMaster" Target="/ppt/notesMasters/notesMaster1.xml" Id="R443477e9d36c43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d17be601774be5" /><Relationship Type="http://schemas.openxmlformats.org/officeDocument/2006/relationships/notesMaster" Target="/ppt/notesMasters/notesMaster1.xml" Id="R9f523b02951545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5800362931472f" /><Relationship Type="http://schemas.openxmlformats.org/officeDocument/2006/relationships/notesMaster" Target="/ppt/notesMasters/notesMaster1.xml" Id="R6662a814d9df46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a13702f28d40fc" /><Relationship Type="http://schemas.openxmlformats.org/officeDocument/2006/relationships/notesMaster" Target="/ppt/notesMasters/notesMaster1.xml" Id="R37142ddf08a449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fc6f34f05a4c57" /><Relationship Type="http://schemas.openxmlformats.org/officeDocument/2006/relationships/notesMaster" Target="/ppt/notesMasters/notesMaster1.xml" Id="R6f6ed7ca855943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executive summary; package.json; server/services/matchingEngine.js. Assessment as of 16 October 2026. This deck distinguishes implemented code, demo behavior, specification targets, and recommendations. Repository review and isolated Node tests support the assessment. No production deployment or customer results were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frontend/index.html; frontend/js/app.js; server/server.js; server/routes/invoices.js; server/routes/auth.js; server/services/matchingEngine.js. The current npm entrypoint launches Express and MongoDB. The implemented UI is plain JavaScript. The overall readiness assessment is an inference from inspected code, not a production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PRD.md sections 1 and 3; README.md. Target market and invoice range are positioning assumptions from the project specification, not measured adoption. Roles below represent intended responsibilities. Role-based authorization is not enforced in the active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frontend/index.html; frontend/js/app.js; server/routes/invoices.js, goodsReceipts.js, exceptions.js, exports.js. Steps summarize the intended journey. Upload currently creates sample lines, and saveLineEdits only displays a success alert. Match execution, receiving, exception resolution and CSV generation have server implementations. CSV export is not direct payment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server/services/matchingEngine.js, evaluate3WayMatch; server/tests/matchingEngine.test.js, test 3. This example follows the existing passing partial-delivery test. Ordered quantity is 100 units at $10 each. After the first 40 units are received and billed, a second bill for 60 is held until another receipt arrives. The table shows an illustrative test case, not customer 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server/services/matchingEngine.js; server/models/ToleranceRule.js; server/routes/exceptions.js. Exact SKU matching precedes token-sort description similarity with an 80 threshold. Duplicate checking uses normalized invoice numbers, then same-vendor dates within ±45 days and amount/similarity checks. Vendor rules override tenant defaults, but the category layer described in the specification is absent. Default absolute price tolerance applies per unit, not per invoice. Non-strict mode accepts either percentage or absolute bounds. Exceptions receive a three-day deadline. Resolving one exception currently changes the entire invoice status, so other open exceptions require gating.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package.json; server/server.js; server/config/db.js; backend/app/main.py; backend/app/database.py; backend/app/config.py; frontend/index.html; frontend/js/app.js; TECHNICAL_DESIGN.md sections 1–3. The active npm path uses Node/Express/Mongoose. The Python implementation uses FastAPI and SQLAlchemy with SQLite as the default. PostgreSQL, Redis, object storage, Next.js and React appear in design documentation, but are not the active npm application. MongoDB falls back to an in-memory instance when no configured or local database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server/models/*.js; server/routes/exports.js; server/config/db.js; server/services/matchingEngine.js. Ten Mongoose model files define the listed entities. Purchase orders, receipts and invoices embed lines. Tenant identifiers exist in schemas, but this alone does not provide isolation. MatchRun saves rules and per-line outcomes. runMatch deletes prior runs and exceptions before recomputing, so historical match evidence is not preserved. CSV export reads matched, approved and exported invoices but does not persist an export batch or update invoice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PRD.md; FEATURES_SPECIFICATION.md; frontend/js/app.js, saveLineEdits and handleFileUpload; server/routes/invoices.js; server/routes/analytics.js; server/routes/vendors.js; server/routes/exports.js; server/services/matchingEngine.js. Implemented means code exists, not production validation. Upload ignores actual file content and creates a sample invoice. The review save handler does not issue a persistence request. Analytics aging values are hard-coded, while money protected uses a quantity-times-100 heuristic. No measured customer savings should be inferred from seed values. Tax, credit-note workflows, category tolerances, approval thresholds and subscription billing are specified but absent from the active Node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server/tests/matchingEngine.test.js; server/services/matchingEngine.js; server/server.js; server/routes/auth.js; server/routes/exceptions.js; server/models/AuditLog.js. Existing Node suite executed on 16 October 2026: 8 passed, 0 failed. Its duplicate test supplies a duplicate result directly and does not exercise database-backed detection. Additional isolated evaluations reproduced MATCHED_EXACT for an empty invoice and for two 60-unit lines mapped to the same 100-unit PO line. A receipt with receivedQty=100 and rejectedQty=20 still permits billing 100 because rejectedQty is unused, requiring a defined acceptance convention. Security review: login does not validate passwords, tokens are placeholders, routes have no authentication middleware, and many queries lack tenant scope. Reruns delete match history, writes are not transactional, and an individual exception override can approve an invoice with other open issues. No live end-to-end, load or production-security test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PRD.md sections 2 and 10; FEATURES_SPECIFICATION.md section 11. Prices, quotas and success measures are internal product proposals, not current subscriptions, market benchmarks or achieved results. PRD proposes a 14-day trial capped at 50 invoices, $0.18 invoice overage and 15% annual discount. Billing and quota enforcement are not implemented in the active app. Targets include at least 75% clean-invoice straight-through processing and average processing below 90 seconds. These require a defined pilot and trustworthy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derived from the repository review. These stages are proposed sequencing, not an approved delivery schedule. Sources: PRD.md definition of done and milestones; observed code gaps in server/routes/auth.js, invoices.js, analytics.js, exports.js, exceptions.js; server/services/matchingEngine.js; frontend/js/app.js. Stage 1 should establish negative authorization tests and transactional matching invariants. Stage 2 should connect real documents and demonstrate persisted correction. Stage 3 should validate analytics, export replay handling and retained evidence. The PRD defines a 200-document historical benchmark and &gt;=95% human-review agreement as intended release criteria, not achieved results. The eight-week plan in the PRD needs re-estimation after choosing the supported stack. No project source code was changed by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7a4098d0fb43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ff832ee09f4f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96c307f7144a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9141e0e3f74c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1bff1d20da41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5df43346694b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0E6D2-1C73-4D43-A221-4140938160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DDE402-A220-4FDE-AC5A-CA1EE7B22B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DBD3D9-A6B4-4820-A0F6-42E834B55E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8278A0-8877-4B37-B7E1-CE6756AE5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608478-1744-4E6B-BAA7-9057561DB8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D73266-42C4-421E-BED3-4FA97C4D8E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FF2D60-7B0E-4C2B-90BD-CBC677EDAE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5F4D29-3B5B-4A9F-A4A5-7CDAE5D940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2CB00D-F0E8-49B0-9080-DDFE5BC79F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8BFC59-080F-452D-B0AE-3DE0823ED5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38739921db4a92" /><Relationship Type="http://schemas.openxmlformats.org/officeDocument/2006/relationships/slideLayout" Target="/ppt/slideLayouts/slideLayout1.xml" Id="R591c663834544404" /><Relationship Type="http://schemas.openxmlformats.org/officeDocument/2006/relationships/slideLayout" Target="/ppt/slideLayouts/slideLayout2.xml" Id="R30a974d0a52a4029" /><Relationship Type="http://schemas.openxmlformats.org/officeDocument/2006/relationships/slideLayout" Target="/ppt/slideLayouts/slideLayout3.xml" Id="R5b9414a6a3624316" /><Relationship Type="http://schemas.openxmlformats.org/officeDocument/2006/relationships/slideLayout" Target="/ppt/slideLayouts/slideLayout4.xml" Id="R8129308543d04b2f" /><Relationship Type="http://schemas.openxmlformats.org/officeDocument/2006/relationships/slideLayout" Target="/ppt/slideLayouts/slideLayout5.xml" Id="Ra741d15312ae4e5a" /><Relationship Type="http://schemas.openxmlformats.org/officeDocument/2006/relationships/slideLayout" Target="/ppt/slideLayouts/slideLayout6.xml" Id="R9db72d36793e41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1c663834544404"/>
    <p:sldLayoutId xmlns:r="http://schemas.openxmlformats.org/officeDocument/2006/relationships" id="2147483650" r:id="R30a974d0a52a4029"/>
    <p:sldLayoutId xmlns:r="http://schemas.openxmlformats.org/officeDocument/2006/relationships" id="2147483651" r:id="R5b9414a6a3624316"/>
    <p:sldLayoutId xmlns:r="http://schemas.openxmlformats.org/officeDocument/2006/relationships" id="2147483652" r:id="R8129308543d04b2f"/>
    <p:sldLayoutId xmlns:r="http://schemas.openxmlformats.org/officeDocument/2006/relationships" id="2147483653" r:id="Ra741d15312ae4e5a"/>
    <p:sldLayoutId xmlns:r="http://schemas.openxmlformats.org/officeDocument/2006/relationships" id="2147483654" r:id="R9db72d36793e41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3f9d9669e74d8c" /><Relationship Type="http://schemas.openxmlformats.org/officeDocument/2006/relationships/notesSlide" Target="/ppt/notesSlides/notesSlide1.xml" Id="Rb9776acb396a45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667b3122f74bcc" /><Relationship Type="http://schemas.openxmlformats.org/officeDocument/2006/relationships/notesSlide" Target="/ppt/notesSlides/notesSlide2.xml" Id="Rf33c677504f045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9a219f68694d22" /><Relationship Type="http://schemas.openxmlformats.org/officeDocument/2006/relationships/notesSlide" Target="/ppt/notesSlides/notesSlide3.xml" Id="R1bc0d268dcf44f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293e0a2d354895" /><Relationship Type="http://schemas.openxmlformats.org/officeDocument/2006/relationships/notesSlide" Target="/ppt/notesSlides/notesSlide4.xml" Id="R7c24ca2569b244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542d47bcac4c0e" /><Relationship Type="http://schemas.openxmlformats.org/officeDocument/2006/relationships/notesSlide" Target="/ppt/notesSlides/notesSlide5.xml" Id="R6ff25c5913b84e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800c3b77c9431a" /><Relationship Type="http://schemas.openxmlformats.org/officeDocument/2006/relationships/notesSlide" Target="/ppt/notesSlides/notesSlide6.xml" Id="R1d8cb83303554d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b8cad0ecae43c5" /><Relationship Type="http://schemas.openxmlformats.org/officeDocument/2006/relationships/notesSlide" Target="/ppt/notesSlides/notesSlide7.xml" Id="R68b428450abc43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03fe5bd1794579" /><Relationship Type="http://schemas.openxmlformats.org/officeDocument/2006/relationships/notesSlide" Target="/ppt/notesSlides/notesSlide8.xml" Id="Rb4d7a08fca234d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600df4960b49b7" /><Relationship Type="http://schemas.openxmlformats.org/officeDocument/2006/relationships/notesSlide" Target="/ppt/notesSlides/notesSlide9.xml" Id="R404639f3498842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53185f2ebe447b" /><Relationship Type="http://schemas.openxmlformats.org/officeDocument/2006/relationships/notesSlide" Target="/ppt/notesSlides/notesSlide10.xml" Id="Ra48bfc3b8d3d4b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c3a03530a74551" /><Relationship Type="http://schemas.openxmlformats.org/officeDocument/2006/relationships/notesSlide" Target="/ppt/notesSlides/notesSlide11.xml" Id="Rcad5369cad1e47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72b03e9514845d3" /><Relationship Type="http://schemas.openxmlformats.org/officeDocument/2006/relationships/notesSlide" Target="/ppt/notesSlides/notesSlide12.xml" Id="R3f109d98c665479b" /></Relationships>
</file>

<file path=ppt/slides/slide1.xml><?xml version="1.0" encoding="utf-8"?>
<p:sld xmlns:p="http://schemas.openxmlformats.org/presentationml/2006/main">
  <p:cSld>
    <p:bg>
      <p:bgPr>
        <a:solidFill xmlns:a="http://schemas.openxmlformats.org/drawingml/2006/main">
          <a:srgbClr val="101F3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903529-71B2-4AD9-914A-51A6FD8E96C0}"/>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7DE0CC"/>
                </a:solidFill>
                <a:latin typeface="Arial"/>
                <a:ea typeface="Arial"/>
                <a:cs typeface="Arial"/>
              </a:defRPr>
            </a:defPPr>
          </a:lstStyle>
          <a:p xmlns:a="http://schemas.openxmlformats.org/drawingml/2006/main">
            <a:pPr>
              <a:defRPr sz="1125" b="1">
                <a:solidFill>
                  <a:srgbClr val="7DE0CC"/>
                </a:solidFill>
                <a:latin typeface="Arial"/>
                <a:ea typeface="Arial"/>
                <a:cs typeface="Arial"/>
              </a:defRPr>
            </a:pPr>
            <a:r>
              <a:rPr sz="1125" b="1">
                <a:solidFill>
                  <a:srgbClr val="7DE0CC"/>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9EF76E61-9D9E-4B3B-821B-8211F3A4B28C}"/>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Matchly</a:t>
            </a:r>
          </a:p>
        </p:txBody>
      </p:sp>
      <p:sp>
        <p:nvSpPr>
          <p:cNvPr id="3" name="">
            <a:extLst xmlns:a="http://schemas.openxmlformats.org/drawingml/2006/main">
              <a:ext uri="{FF2B5EF4-FFF2-40B4-BE49-F238E27FC236}">
                <a16:creationId xmlns:a16="http://schemas.microsoft.com/office/drawing/2014/main" id="{7F21E55F-13E4-4CBA-9E22-A90CE5A6F082}"/>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AB9C7"/>
                </a:solidFill>
                <a:latin typeface="Arial"/>
                <a:ea typeface="Arial"/>
                <a:cs typeface="Arial"/>
              </a:defRPr>
            </a:defPPr>
          </a:lstStyle>
          <a:p xmlns:a="http://schemas.openxmlformats.org/drawingml/2006/main">
            <a:pPr>
              <a:defRPr sz="975" b="0">
                <a:solidFill>
                  <a:srgbClr val="AAB9C7"/>
                </a:solidFill>
                <a:latin typeface="Arial"/>
                <a:ea typeface="Arial"/>
                <a:cs typeface="Arial"/>
              </a:defRPr>
            </a:pPr>
            <a:r>
              <a:rPr sz="975" b="0">
                <a:solidFill>
                  <a:srgbClr val="AAB9C7"/>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5D405A15-DD52-4E37-836D-52D2D9E1E6D8}"/>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AB9C7"/>
                </a:solidFill>
                <a:latin typeface="Arial"/>
                <a:ea typeface="Arial"/>
                <a:cs typeface="Arial"/>
              </a:defRPr>
            </a:defPPr>
          </a:lstStyle>
          <a:p xmlns:a="http://schemas.openxmlformats.org/drawingml/2006/main">
            <a:pPr>
              <a:defRPr sz="975" b="0">
                <a:solidFill>
                  <a:srgbClr val="AAB9C7"/>
                </a:solidFill>
                <a:latin typeface="Arial"/>
                <a:ea typeface="Arial"/>
                <a:cs typeface="Arial"/>
              </a:defRPr>
            </a:pPr>
            <a:r>
              <a:rPr sz="975" b="0">
                <a:solidFill>
                  <a:srgbClr val="AAB9C7"/>
                </a:solidFill>
                <a:latin typeface="Arial"/>
                <a:ea typeface="Arial"/>
                <a:cs typeface="Arial"/>
              </a:rPr>
              <a:t>01 / 12</a:t>
            </a:r>
          </a:p>
        </p:txBody>
      </p:sp>
      <p:sp>
        <p:nvSpPr>
          <p:cNvPr id="5" name="">
            <a:extLst xmlns:a="http://schemas.openxmlformats.org/drawingml/2006/main">
              <a:ext uri="{FF2B5EF4-FFF2-40B4-BE49-F238E27FC236}">
                <a16:creationId xmlns:a16="http://schemas.microsoft.com/office/drawing/2014/main" id="{B46502FF-80E7-451E-A7CC-D95A2EEC306F}"/>
              </a:ext>
            </a:extLst>
          </p:cNvPr>
          <p:cNvSpPr>
            <a:spLocks xmlns:a="http://schemas.openxmlformats.org/drawingml/2006/main" noGrp="1"/>
          </p:cNvSpPr>
          <p:nvPr/>
        </p:nvSpPr>
        <p:spPr>
          <a:xfrm xmlns:a="http://schemas.openxmlformats.org/drawingml/2006/main">
            <a:off x="609600" y="22860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3-way invoice matching</a:t>
            </a:r>
          </a:p>
        </p:txBody>
      </p:sp>
      <p:sp>
        <p:nvSpPr>
          <p:cNvPr id="6" name="">
            <a:extLst xmlns:a="http://schemas.openxmlformats.org/drawingml/2006/main">
              <a:ext uri="{FF2B5EF4-FFF2-40B4-BE49-F238E27FC236}">
                <a16:creationId xmlns:a16="http://schemas.microsoft.com/office/drawing/2014/main" id="{C71E8C9C-5E4E-4165-AC7A-CE1AA62A746B}"/>
              </a:ext>
            </a:extLst>
          </p:cNvPr>
          <p:cNvSpPr>
            <a:spLocks xmlns:a="http://schemas.openxmlformats.org/drawingml/2006/main" noGrp="1"/>
          </p:cNvSpPr>
          <p:nvPr/>
        </p:nvSpPr>
        <p:spPr>
          <a:xfrm xmlns:a="http://schemas.openxmlformats.org/drawingml/2006/main">
            <a:off x="609600" y="3352800"/>
            <a:ext cx="971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C7D4DF"/>
                </a:solidFill>
                <a:latin typeface="Arial"/>
                <a:ea typeface="Arial"/>
                <a:cs typeface="Arial"/>
              </a:defRPr>
            </a:defPPr>
          </a:lstStyle>
          <a:p xmlns:a="http://schemas.openxmlformats.org/drawingml/2006/main">
            <a:pPr>
              <a:defRPr sz="2325" b="0">
                <a:solidFill>
                  <a:srgbClr val="C7D4DF"/>
                </a:solidFill>
                <a:latin typeface="Arial"/>
                <a:ea typeface="Arial"/>
                <a:cs typeface="Arial"/>
              </a:defRPr>
            </a:pPr>
            <a:r>
              <a:rPr sz="2325" b="0">
                <a:solidFill>
                  <a:srgbClr val="C7D4DF"/>
                </a:solidFill>
                <a:latin typeface="Arial"/>
                <a:ea typeface="Arial"/>
                <a:cs typeface="Arial"/>
              </a:rPr>
              <a:t>Product, implementation and release readiness</a:t>
            </a:r>
          </a:p>
        </p:txBody>
      </p:sp>
      <p:sp>
        <p:nvSpPr>
          <p:cNvPr id="7" name="">
            <a:extLst xmlns:a="http://schemas.openxmlformats.org/drawingml/2006/main">
              <a:ext uri="{FF2B5EF4-FFF2-40B4-BE49-F238E27FC236}">
                <a16:creationId xmlns:a16="http://schemas.microsoft.com/office/drawing/2014/main" id="{20A3532C-79F3-4305-BB05-DABC94F3FB8C}"/>
              </a:ext>
            </a:extLst>
          </p:cNvPr>
          <p:cNvSpPr>
            <a:spLocks xmlns:a="http://schemas.openxmlformats.org/drawingml/2006/main" noGrp="1"/>
          </p:cNvSpPr>
          <p:nvPr/>
        </p:nvSpPr>
        <p:spPr>
          <a:xfrm xmlns:a="http://schemas.openxmlformats.org/drawingml/2006/main">
            <a:off x="609600" y="46863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DE0CC"/>
                </a:solidFill>
                <a:latin typeface="Arial"/>
                <a:ea typeface="Arial"/>
                <a:cs typeface="Arial"/>
              </a:defRPr>
            </a:defPPr>
          </a:lstStyle>
          <a:p xmlns:a="http://schemas.openxmlformats.org/drawingml/2006/main">
            <a:pPr>
              <a:defRPr sz="1875" b="0">
                <a:solidFill>
                  <a:srgbClr val="7DE0CC"/>
                </a:solidFill>
                <a:latin typeface="Arial"/>
                <a:ea typeface="Arial"/>
                <a:cs typeface="Arial"/>
              </a:defRPr>
            </a:pPr>
            <a:r>
              <a:rPr sz="1875" b="0">
                <a:solidFill>
                  <a:srgbClr val="7DE0CC"/>
                </a:solidFill>
                <a:latin typeface="Arial"/>
                <a:ea typeface="Arial"/>
                <a:cs typeface="Arial"/>
              </a:rPr>
              <a:t>Purchase orders   /   Goods receipts   /   Supplier invoices</a:t>
            </a:r>
          </a:p>
        </p:txBody>
      </p:sp>
      <p:sp>
        <p:nvSpPr>
          <p:cNvPr id="8" name="">
            <a:extLst xmlns:a="http://schemas.openxmlformats.org/drawingml/2006/main">
              <a:ext uri="{FF2B5EF4-FFF2-40B4-BE49-F238E27FC236}">
                <a16:creationId xmlns:a16="http://schemas.microsoft.com/office/drawing/2014/main" id="{79ADD006-CF52-46E9-B14F-9C5C68699D10}"/>
              </a:ext>
            </a:extLst>
          </p:cNvPr>
          <p:cNvSpPr>
            <a:spLocks xmlns:a="http://schemas.openxmlformats.org/drawingml/2006/main" noGrp="1"/>
          </p:cNvSpPr>
          <p:nvPr/>
        </p:nvSpPr>
        <p:spPr>
          <a:xfrm xmlns:a="http://schemas.openxmlformats.org/drawingml/2006/main">
            <a:off x="609600" y="54959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AB9C7"/>
                </a:solidFill>
                <a:latin typeface="Arial"/>
                <a:ea typeface="Arial"/>
                <a:cs typeface="Arial"/>
              </a:defRPr>
            </a:defPPr>
          </a:lstStyle>
          <a:p xmlns:a="http://schemas.openxmlformats.org/drawingml/2006/main">
            <a:pPr>
              <a:defRPr sz="1650" b="0">
                <a:solidFill>
                  <a:srgbClr val="AAB9C7"/>
                </a:solidFill>
                <a:latin typeface="Arial"/>
                <a:ea typeface="Arial"/>
                <a:cs typeface="Arial"/>
              </a:defRPr>
            </a:pPr>
            <a:r>
              <a:rPr sz="1650" b="0">
                <a:solidFill>
                  <a:srgbClr val="AAB9C7"/>
                </a:solidFill>
                <a:latin typeface="Arial"/>
                <a:ea typeface="Arial"/>
                <a:cs typeface="Arial"/>
              </a:rPr>
              <a:t>16 October 2026</a:t>
            </a:r>
          </a:p>
        </p:txBody>
      </p:sp>
    </p:spTree>
    <p:extLst>
      <p:ext uri="{BB962C8B-B14F-4D97-AF65-F5344CB8AC3E}">
        <p14:creationId xmlns:p14="http://schemas.microsoft.com/office/powerpoint/2010/main" val="264094408"/>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CD0653-0FF4-4EC7-8BCE-8752E2B721E9}"/>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01  EXECUTIVE ASSESSMENT</a:t>
            </a:r>
          </a:p>
        </p:txBody>
      </p:sp>
      <p:sp>
        <p:nvSpPr>
          <p:cNvPr id="2" name="">
            <a:extLst xmlns:a="http://schemas.openxmlformats.org/drawingml/2006/main">
              <a:ext uri="{FF2B5EF4-FFF2-40B4-BE49-F238E27FC236}">
                <a16:creationId xmlns:a16="http://schemas.microsoft.com/office/drawing/2014/main" id="{76166F5B-018E-4AFA-A2AF-D197125E3EE5}"/>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A working prototype with a clear product purpose</a:t>
            </a:r>
          </a:p>
        </p:txBody>
      </p:sp>
      <p:sp>
        <p:nvSpPr>
          <p:cNvPr id="3" name="">
            <a:extLst xmlns:a="http://schemas.openxmlformats.org/drawingml/2006/main">
              <a:ext uri="{FF2B5EF4-FFF2-40B4-BE49-F238E27FC236}">
                <a16:creationId xmlns:a16="http://schemas.microsoft.com/office/drawing/2014/main" id="{85E4A080-5BCA-4CD6-8DD5-CD70AB5C467D}"/>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AFC8CF2A-4B97-4DDA-972A-75A3EE5FEECD}"/>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02 / 12</a:t>
            </a:r>
          </a:p>
        </p:txBody>
      </p:sp>
      <p:sp>
        <p:nvSpPr>
          <p:cNvPr id="5" name="">
            <a:extLst xmlns:a="http://schemas.openxmlformats.org/drawingml/2006/main">
              <a:ext uri="{FF2B5EF4-FFF2-40B4-BE49-F238E27FC236}">
                <a16:creationId xmlns:a16="http://schemas.microsoft.com/office/drawing/2014/main" id="{254AC69A-BFE9-4A98-A4F4-E64F6364F005}"/>
              </a:ext>
            </a:extLst>
          </p:cNvPr>
          <p:cNvSpPr>
            <a:spLocks xmlns:a="http://schemas.openxmlformats.org/drawingml/2006/main" noGrp="1"/>
          </p:cNvSpPr>
          <p:nvPr/>
        </p:nvSpPr>
        <p:spPr>
          <a:xfrm xmlns:a="http://schemas.openxmlformats.org/drawingml/2006/main">
            <a:off x="609600" y="20764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Purpose</a:t>
            </a:r>
          </a:p>
        </p:txBody>
      </p:sp>
      <p:sp>
        <p:nvSpPr>
          <p:cNvPr id="6" name="">
            <a:extLst xmlns:a="http://schemas.openxmlformats.org/drawingml/2006/main">
              <a:ext uri="{FF2B5EF4-FFF2-40B4-BE49-F238E27FC236}">
                <a16:creationId xmlns:a16="http://schemas.microsoft.com/office/drawing/2014/main" id="{4D4CFD6B-4344-438C-A217-1EC6B2EC4085}"/>
              </a:ext>
            </a:extLst>
          </p:cNvPr>
          <p:cNvSpPr>
            <a:spLocks xmlns:a="http://schemas.openxmlformats.org/drawingml/2006/main" noGrp="1"/>
          </p:cNvSpPr>
          <p:nvPr/>
        </p:nvSpPr>
        <p:spPr>
          <a:xfrm xmlns:a="http://schemas.openxmlformats.org/drawingml/2006/main">
            <a:off x="3714750" y="20764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Check supplier bills against ordered prices and recorded deliveries before accounting export.</a:t>
            </a:r>
          </a:p>
        </p:txBody>
      </p:sp>
      <p:sp>
        <p:nvSpPr>
          <p:cNvPr id="7" name="">
            <a:extLst xmlns:a="http://schemas.openxmlformats.org/drawingml/2006/main">
              <a:ext uri="{FF2B5EF4-FFF2-40B4-BE49-F238E27FC236}">
                <a16:creationId xmlns:a16="http://schemas.microsoft.com/office/drawing/2014/main" id="{C4F942AF-7D16-4237-86AD-7FE32DFD7DC8}"/>
              </a:ext>
            </a:extLst>
          </p:cNvPr>
          <p:cNvSpPr>
            <a:spLocks xmlns:a="http://schemas.openxmlformats.org/drawingml/2006/main" noGrp="1"/>
          </p:cNvSpPr>
          <p:nvPr/>
        </p:nvSpPr>
        <p:spPr>
          <a:xfrm xmlns:a="http://schemas.openxmlformats.org/drawingml/2006/main">
            <a:off x="609600" y="30289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Built today</a:t>
            </a:r>
          </a:p>
        </p:txBody>
      </p:sp>
      <p:sp>
        <p:nvSpPr>
          <p:cNvPr id="8" name="">
            <a:extLst xmlns:a="http://schemas.openxmlformats.org/drawingml/2006/main">
              <a:ext uri="{FF2B5EF4-FFF2-40B4-BE49-F238E27FC236}">
                <a16:creationId xmlns:a16="http://schemas.microsoft.com/office/drawing/2014/main" id="{3BAF1E1D-48F1-4A45-A37C-00131E1534B9}"/>
              </a:ext>
            </a:extLst>
          </p:cNvPr>
          <p:cNvSpPr>
            <a:spLocks xmlns:a="http://schemas.openxmlformats.org/drawingml/2006/main" noGrp="1"/>
          </p:cNvSpPr>
          <p:nvPr/>
        </p:nvSpPr>
        <p:spPr>
          <a:xfrm xmlns:a="http://schemas.openxmlformats.org/drawingml/2006/main">
            <a:off x="3714750" y="30289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A tabbed web application, deterministic matching engine, exception workflow and CSV exports.</a:t>
            </a:r>
          </a:p>
        </p:txBody>
      </p:sp>
      <p:sp>
        <p:nvSpPr>
          <p:cNvPr id="9" name="">
            <a:extLst xmlns:a="http://schemas.openxmlformats.org/drawingml/2006/main">
              <a:ext uri="{FF2B5EF4-FFF2-40B4-BE49-F238E27FC236}">
                <a16:creationId xmlns:a16="http://schemas.microsoft.com/office/drawing/2014/main" id="{73BE13CC-0ACE-4893-8058-3D4692C35F36}"/>
              </a:ext>
            </a:extLst>
          </p:cNvPr>
          <p:cNvSpPr>
            <a:spLocks xmlns:a="http://schemas.openxmlformats.org/drawingml/2006/main" noGrp="1"/>
          </p:cNvSpPr>
          <p:nvPr/>
        </p:nvSpPr>
        <p:spPr>
          <a:xfrm xmlns:a="http://schemas.openxmlformats.org/drawingml/2006/main">
            <a:off x="609600" y="39814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Current maturity</a:t>
            </a:r>
          </a:p>
        </p:txBody>
      </p:sp>
      <p:sp>
        <p:nvSpPr>
          <p:cNvPr id="10" name="">
            <a:extLst xmlns:a="http://schemas.openxmlformats.org/drawingml/2006/main">
              <a:ext uri="{FF2B5EF4-FFF2-40B4-BE49-F238E27FC236}">
                <a16:creationId xmlns:a16="http://schemas.microsoft.com/office/drawing/2014/main" id="{6F824C6F-C197-4A2C-A81F-8357F6B0F284}"/>
              </a:ext>
            </a:extLst>
          </p:cNvPr>
          <p:cNvSpPr>
            <a:spLocks xmlns:a="http://schemas.openxmlformats.org/drawingml/2006/main" noGrp="1"/>
          </p:cNvSpPr>
          <p:nvPr/>
        </p:nvSpPr>
        <p:spPr>
          <a:xfrm xmlns:a="http://schemas.openxmlformats.org/drawingml/2006/main">
            <a:off x="3714750" y="39814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A demonstration prototype. Document ingestion, access controls and financial reporting need further work.</a:t>
            </a:r>
          </a:p>
        </p:txBody>
      </p:sp>
      <p:sp>
        <p:nvSpPr>
          <p:cNvPr id="11" name="">
            <a:extLst xmlns:a="http://schemas.openxmlformats.org/drawingml/2006/main">
              <a:ext uri="{FF2B5EF4-FFF2-40B4-BE49-F238E27FC236}">
                <a16:creationId xmlns:a16="http://schemas.microsoft.com/office/drawing/2014/main" id="{CC7B1F76-7EC3-4FBC-8F45-C4385886B0E2}"/>
              </a:ext>
            </a:extLst>
          </p:cNvPr>
          <p:cNvSpPr>
            <a:spLocks xmlns:a="http://schemas.openxmlformats.org/drawingml/2006/main" noGrp="1"/>
          </p:cNvSpPr>
          <p:nvPr/>
        </p:nvSpPr>
        <p:spPr>
          <a:xfrm xmlns:a="http://schemas.openxmlformats.org/drawingml/2006/main">
            <a:off x="609600" y="49339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Release priority</a:t>
            </a:r>
          </a:p>
        </p:txBody>
      </p:sp>
      <p:sp>
        <p:nvSpPr>
          <p:cNvPr id="12" name="">
            <a:extLst xmlns:a="http://schemas.openxmlformats.org/drawingml/2006/main">
              <a:ext uri="{FF2B5EF4-FFF2-40B4-BE49-F238E27FC236}">
                <a16:creationId xmlns:a16="http://schemas.microsoft.com/office/drawing/2014/main" id="{523D0C24-8E45-4111-A0DB-4092CF4039D7}"/>
              </a:ext>
            </a:extLst>
          </p:cNvPr>
          <p:cNvSpPr>
            <a:spLocks xmlns:a="http://schemas.openxmlformats.org/drawingml/2006/main" noGrp="1"/>
          </p:cNvSpPr>
          <p:nvPr/>
        </p:nvSpPr>
        <p:spPr>
          <a:xfrm xmlns:a="http://schemas.openxmlformats.org/drawingml/2006/main">
            <a:off x="3714750" y="49339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Protect data and payment decisions, then complete real document processing.</a:t>
            </a:r>
          </a:p>
        </p:txBody>
      </p:sp>
    </p:spTree>
    <p:extLst>
      <p:ext uri="{BB962C8B-B14F-4D97-AF65-F5344CB8AC3E}">
        <p14:creationId xmlns:p14="http://schemas.microsoft.com/office/powerpoint/2010/main" val="1375615053"/>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C49A27-6726-4B10-A47C-F2864A1145E8}"/>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02  PRODUCT CONTEXT</a:t>
            </a:r>
          </a:p>
        </p:txBody>
      </p:sp>
      <p:sp>
        <p:nvSpPr>
          <p:cNvPr id="2" name="">
            <a:extLst xmlns:a="http://schemas.openxmlformats.org/drawingml/2006/main">
              <a:ext uri="{FF2B5EF4-FFF2-40B4-BE49-F238E27FC236}">
                <a16:creationId xmlns:a16="http://schemas.microsoft.com/office/drawing/2014/main" id="{1E162838-7BE9-4ECD-9B80-F97B0C8289D0}"/>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The users and the problem</a:t>
            </a:r>
          </a:p>
        </p:txBody>
      </p:sp>
      <p:sp>
        <p:nvSpPr>
          <p:cNvPr id="3" name="">
            <a:extLst xmlns:a="http://schemas.openxmlformats.org/drawingml/2006/main">
              <a:ext uri="{FF2B5EF4-FFF2-40B4-BE49-F238E27FC236}">
                <a16:creationId xmlns:a16="http://schemas.microsoft.com/office/drawing/2014/main" id="{86CFDC1D-60D0-4E1C-AA66-ED71AB9B1948}"/>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5A555A75-1817-425D-80F3-B33A94118A78}"/>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03 / 12</a:t>
            </a:r>
          </a:p>
        </p:txBody>
      </p:sp>
      <p:sp>
        <p:nvSpPr>
          <p:cNvPr id="5" name="">
            <a:extLst xmlns:a="http://schemas.openxmlformats.org/drawingml/2006/main">
              <a:ext uri="{FF2B5EF4-FFF2-40B4-BE49-F238E27FC236}">
                <a16:creationId xmlns:a16="http://schemas.microsoft.com/office/drawing/2014/main" id="{51E50C96-B9DD-4077-A520-4C3277BD18BF}"/>
              </a:ext>
            </a:extLst>
          </p:cNvPr>
          <p:cNvSpPr>
            <a:spLocks xmlns:a="http://schemas.openxmlformats.org/drawingml/2006/main" noGrp="1"/>
          </p:cNvSpPr>
          <p:nvPr/>
        </p:nvSpPr>
        <p:spPr>
          <a:xfrm xmlns:a="http://schemas.openxmlformats.org/drawingml/2006/main">
            <a:off x="609600" y="19907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3"/>
                </a:solidFill>
                <a:latin typeface="Arial"/>
                <a:ea typeface="Arial"/>
                <a:cs typeface="Arial"/>
              </a:defRPr>
            </a:defPPr>
          </a:lstStyle>
          <a:p xmlns:a="http://schemas.openxmlformats.org/drawingml/2006/main">
            <a:pPr>
              <a:defRPr sz="2400" b="1">
                <a:solidFill>
                  <a:srgbClr val="087E83"/>
                </a:solidFill>
                <a:latin typeface="Arial"/>
                <a:ea typeface="Arial"/>
                <a:cs typeface="Arial"/>
              </a:defRPr>
            </a:pPr>
            <a:r>
              <a:rPr sz="2400" b="1">
                <a:solidFill>
                  <a:srgbClr val="087E83"/>
                </a:solidFill>
                <a:latin typeface="Arial"/>
                <a:ea typeface="Arial"/>
                <a:cs typeface="Arial"/>
              </a:rPr>
              <a:t>Physical-goods businesses handling 200–10,000 invoices per month</a:t>
            </a:r>
          </a:p>
        </p:txBody>
      </p:sp>
      <p:sp>
        <p:nvSpPr>
          <p:cNvPr id="6" name="">
            <a:extLst xmlns:a="http://schemas.openxmlformats.org/drawingml/2006/main">
              <a:ext uri="{FF2B5EF4-FFF2-40B4-BE49-F238E27FC236}">
                <a16:creationId xmlns:a16="http://schemas.microsoft.com/office/drawing/2014/main" id="{57A04ED4-2A80-4FCB-9131-FD7A95120DF0}"/>
              </a:ext>
            </a:extLst>
          </p:cNvPr>
          <p:cNvSpPr>
            <a:spLocks xmlns:a="http://schemas.openxmlformats.org/drawingml/2006/main" noGrp="1"/>
          </p:cNvSpPr>
          <p:nvPr/>
        </p:nvSpPr>
        <p:spPr>
          <a:xfrm xmlns:a="http://schemas.openxmlformats.org/drawingml/2006/main">
            <a:off x="609600" y="3095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Accounts payable</a:t>
            </a:r>
          </a:p>
        </p:txBody>
      </p:sp>
      <p:sp>
        <p:nvSpPr>
          <p:cNvPr id="7" name="">
            <a:extLst xmlns:a="http://schemas.openxmlformats.org/drawingml/2006/main">
              <a:ext uri="{FF2B5EF4-FFF2-40B4-BE49-F238E27FC236}">
                <a16:creationId xmlns:a16="http://schemas.microsoft.com/office/drawing/2014/main" id="{3C7D20E5-5F18-4E01-A2ED-69C1B361BE9E}"/>
              </a:ext>
            </a:extLst>
          </p:cNvPr>
          <p:cNvSpPr>
            <a:spLocks xmlns:a="http://schemas.openxmlformats.org/drawingml/2006/main" noGrp="1"/>
          </p:cNvSpPr>
          <p:nvPr/>
        </p:nvSpPr>
        <p:spPr>
          <a:xfrm xmlns:a="http://schemas.openxmlformats.org/drawingml/2006/main">
            <a:off x="3714750" y="309562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Compare invoice lines, correct extracted data and investigate discrepancies.</a:t>
            </a:r>
          </a:p>
        </p:txBody>
      </p:sp>
      <p:sp>
        <p:nvSpPr>
          <p:cNvPr id="8" name="">
            <a:extLst xmlns:a="http://schemas.openxmlformats.org/drawingml/2006/main">
              <a:ext uri="{FF2B5EF4-FFF2-40B4-BE49-F238E27FC236}">
                <a16:creationId xmlns:a16="http://schemas.microsoft.com/office/drawing/2014/main" id="{9DD49CFF-7FDD-4D36-831F-6FD78A8DA934}"/>
              </a:ext>
            </a:extLst>
          </p:cNvPr>
          <p:cNvSpPr>
            <a:spLocks xmlns:a="http://schemas.openxmlformats.org/drawingml/2006/main" noGrp="1"/>
          </p:cNvSpPr>
          <p:nvPr/>
        </p:nvSpPr>
        <p:spPr>
          <a:xfrm xmlns:a="http://schemas.openxmlformats.org/drawingml/2006/main">
            <a:off x="609600" y="40671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Warehouse teams</a:t>
            </a:r>
          </a:p>
        </p:txBody>
      </p:sp>
      <p:sp>
        <p:nvSpPr>
          <p:cNvPr id="9" name="">
            <a:extLst xmlns:a="http://schemas.openxmlformats.org/drawingml/2006/main">
              <a:ext uri="{FF2B5EF4-FFF2-40B4-BE49-F238E27FC236}">
                <a16:creationId xmlns:a16="http://schemas.microsoft.com/office/drawing/2014/main" id="{22103D9C-6BC1-47C7-A1AD-B7195E164A7C}"/>
              </a:ext>
            </a:extLst>
          </p:cNvPr>
          <p:cNvSpPr>
            <a:spLocks xmlns:a="http://schemas.openxmlformats.org/drawingml/2006/main" noGrp="1"/>
          </p:cNvSpPr>
          <p:nvPr/>
        </p:nvSpPr>
        <p:spPr>
          <a:xfrm xmlns:a="http://schemas.openxmlformats.org/drawingml/2006/main">
            <a:off x="3714750" y="406717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Record received quantities so bills reflect actual deliveries.</a:t>
            </a:r>
          </a:p>
        </p:txBody>
      </p:sp>
      <p:sp>
        <p:nvSpPr>
          <p:cNvPr id="10" name="">
            <a:extLst xmlns:a="http://schemas.openxmlformats.org/drawingml/2006/main">
              <a:ext uri="{FF2B5EF4-FFF2-40B4-BE49-F238E27FC236}">
                <a16:creationId xmlns:a16="http://schemas.microsoft.com/office/drawing/2014/main" id="{942D49BB-3477-47BA-8D4F-4A798825600F}"/>
              </a:ext>
            </a:extLst>
          </p:cNvPr>
          <p:cNvSpPr>
            <a:spLocks xmlns:a="http://schemas.openxmlformats.org/drawingml/2006/main" noGrp="1"/>
          </p:cNvSpPr>
          <p:nvPr/>
        </p:nvSpPr>
        <p:spPr>
          <a:xfrm xmlns:a="http://schemas.openxmlformats.org/drawingml/2006/main">
            <a:off x="609600" y="50387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Finance controllers</a:t>
            </a:r>
          </a:p>
        </p:txBody>
      </p:sp>
      <p:sp>
        <p:nvSpPr>
          <p:cNvPr id="11" name="">
            <a:extLst xmlns:a="http://schemas.openxmlformats.org/drawingml/2006/main">
              <a:ext uri="{FF2B5EF4-FFF2-40B4-BE49-F238E27FC236}">
                <a16:creationId xmlns:a16="http://schemas.microsoft.com/office/drawing/2014/main" id="{0FECA3C0-079D-443D-8EA1-FDAD6F47C1BE}"/>
              </a:ext>
            </a:extLst>
          </p:cNvPr>
          <p:cNvSpPr>
            <a:spLocks xmlns:a="http://schemas.openxmlformats.org/drawingml/2006/main" noGrp="1"/>
          </p:cNvSpPr>
          <p:nvPr/>
        </p:nvSpPr>
        <p:spPr>
          <a:xfrm xmlns:a="http://schemas.openxmlformats.org/drawingml/2006/main">
            <a:off x="3714750" y="503872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Review exceptions and release eligible bills for accounting export.</a:t>
            </a:r>
          </a:p>
        </p:txBody>
      </p:sp>
    </p:spTree>
    <p:extLst>
      <p:ext uri="{BB962C8B-B14F-4D97-AF65-F5344CB8AC3E}">
        <p14:creationId xmlns:p14="http://schemas.microsoft.com/office/powerpoint/2010/main" val="1063437249"/>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F2A0DB-369C-40F2-A154-09CD2BF8717C}"/>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03  USER JOURNEY</a:t>
            </a:r>
          </a:p>
        </p:txBody>
      </p:sp>
      <p:sp>
        <p:nvSpPr>
          <p:cNvPr id="2" name="">
            <a:extLst xmlns:a="http://schemas.openxmlformats.org/drawingml/2006/main">
              <a:ext uri="{FF2B5EF4-FFF2-40B4-BE49-F238E27FC236}">
                <a16:creationId xmlns:a16="http://schemas.microsoft.com/office/drawing/2014/main" id="{39961539-E14B-4B58-969F-C24B23A3D32F}"/>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The invoice workflow</a:t>
            </a:r>
          </a:p>
        </p:txBody>
      </p:sp>
      <p:sp>
        <p:nvSpPr>
          <p:cNvPr id="3" name="">
            <a:extLst xmlns:a="http://schemas.openxmlformats.org/drawingml/2006/main">
              <a:ext uri="{FF2B5EF4-FFF2-40B4-BE49-F238E27FC236}">
                <a16:creationId xmlns:a16="http://schemas.microsoft.com/office/drawing/2014/main" id="{3A307F22-F80B-4A74-BCAA-2950A199FF31}"/>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6ABE1249-1602-44EF-BE87-FA4FC5E65329}"/>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04 / 12</a:t>
            </a:r>
          </a:p>
        </p:txBody>
      </p:sp>
      <p:sp>
        <p:nvSpPr>
          <p:cNvPr id="5" name="">
            <a:extLst xmlns:a="http://schemas.openxmlformats.org/drawingml/2006/main">
              <a:ext uri="{FF2B5EF4-FFF2-40B4-BE49-F238E27FC236}">
                <a16:creationId xmlns:a16="http://schemas.microsoft.com/office/drawing/2014/main" id="{E6EAF176-262E-465A-8070-72881A8F938B}"/>
              </a:ext>
            </a:extLst>
          </p:cNvPr>
          <p:cNvSpPr>
            <a:spLocks xmlns:a="http://schemas.openxmlformats.org/drawingml/2006/main" noGrp="1"/>
          </p:cNvSpPr>
          <p:nvPr/>
        </p:nvSpPr>
        <p:spPr>
          <a:xfrm xmlns:a="http://schemas.openxmlformats.org/drawingml/2006/main">
            <a:off x="609600" y="20764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01  Capture and review</a:t>
            </a:r>
          </a:p>
        </p:txBody>
      </p:sp>
      <p:sp>
        <p:nvSpPr>
          <p:cNvPr id="6" name="">
            <a:extLst xmlns:a="http://schemas.openxmlformats.org/drawingml/2006/main">
              <a:ext uri="{FF2B5EF4-FFF2-40B4-BE49-F238E27FC236}">
                <a16:creationId xmlns:a16="http://schemas.microsoft.com/office/drawing/2014/main" id="{AF12D2F7-DB91-4F74-BDDF-6C1F73A53A6E}"/>
              </a:ext>
            </a:extLst>
          </p:cNvPr>
          <p:cNvSpPr>
            <a:spLocks xmlns:a="http://schemas.openxmlformats.org/drawingml/2006/main" noGrp="1"/>
          </p:cNvSpPr>
          <p:nvPr/>
        </p:nvSpPr>
        <p:spPr>
          <a:xfrm xmlns:a="http://schemas.openxmlformats.org/drawingml/2006/main">
            <a:off x="3714750" y="20764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Select an invoice and review its lines. Real file extraction and saved corrections remain incomplete.</a:t>
            </a:r>
          </a:p>
        </p:txBody>
      </p:sp>
      <p:sp>
        <p:nvSpPr>
          <p:cNvPr id="7" name="">
            <a:extLst xmlns:a="http://schemas.openxmlformats.org/drawingml/2006/main">
              <a:ext uri="{FF2B5EF4-FFF2-40B4-BE49-F238E27FC236}">
                <a16:creationId xmlns:a16="http://schemas.microsoft.com/office/drawing/2014/main" id="{F78A84FE-61EF-4AD9-BA16-C8CD2F1CC422}"/>
              </a:ext>
            </a:extLst>
          </p:cNvPr>
          <p:cNvSpPr>
            <a:spLocks xmlns:a="http://schemas.openxmlformats.org/drawingml/2006/main" noGrp="1"/>
          </p:cNvSpPr>
          <p:nvPr/>
        </p:nvSpPr>
        <p:spPr>
          <a:xfrm xmlns:a="http://schemas.openxmlformats.org/drawingml/2006/main">
            <a:off x="609600" y="30480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02  Reconcile</a:t>
            </a:r>
          </a:p>
        </p:txBody>
      </p:sp>
      <p:sp>
        <p:nvSpPr>
          <p:cNvPr id="8" name="">
            <a:extLst xmlns:a="http://schemas.openxmlformats.org/drawingml/2006/main">
              <a:ext uri="{FF2B5EF4-FFF2-40B4-BE49-F238E27FC236}">
                <a16:creationId xmlns:a16="http://schemas.microsoft.com/office/drawing/2014/main" id="{BFAFECD3-496C-4BC7-8374-74E0FF4301AF}"/>
              </a:ext>
            </a:extLst>
          </p:cNvPr>
          <p:cNvSpPr>
            <a:spLocks xmlns:a="http://schemas.openxmlformats.org/drawingml/2006/main" noGrp="1"/>
          </p:cNvSpPr>
          <p:nvPr/>
        </p:nvSpPr>
        <p:spPr>
          <a:xfrm xmlns:a="http://schemas.openxmlformats.org/drawingml/2006/main">
            <a:off x="3714750" y="30480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Compare the invoice with its purchase order, receipts and previously matched quantities.</a:t>
            </a:r>
          </a:p>
        </p:txBody>
      </p:sp>
      <p:sp>
        <p:nvSpPr>
          <p:cNvPr id="9" name="">
            <a:extLst xmlns:a="http://schemas.openxmlformats.org/drawingml/2006/main">
              <a:ext uri="{FF2B5EF4-FFF2-40B4-BE49-F238E27FC236}">
                <a16:creationId xmlns:a16="http://schemas.microsoft.com/office/drawing/2014/main" id="{C2DAE2FF-D5A0-4891-BBC7-854D3CB81C9C}"/>
              </a:ext>
            </a:extLst>
          </p:cNvPr>
          <p:cNvSpPr>
            <a:spLocks xmlns:a="http://schemas.openxmlformats.org/drawingml/2006/main" noGrp="1"/>
          </p:cNvSpPr>
          <p:nvPr/>
        </p:nvSpPr>
        <p:spPr>
          <a:xfrm xmlns:a="http://schemas.openxmlformats.org/drawingml/2006/main">
            <a:off x="609600" y="40195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03  Resolve</a:t>
            </a:r>
          </a:p>
        </p:txBody>
      </p:sp>
      <p:sp>
        <p:nvSpPr>
          <p:cNvPr id="10" name="">
            <a:extLst xmlns:a="http://schemas.openxmlformats.org/drawingml/2006/main">
              <a:ext uri="{FF2B5EF4-FFF2-40B4-BE49-F238E27FC236}">
                <a16:creationId xmlns:a16="http://schemas.microsoft.com/office/drawing/2014/main" id="{04AF9726-5503-4511-8427-49F57C3FAA4B}"/>
              </a:ext>
            </a:extLst>
          </p:cNvPr>
          <p:cNvSpPr>
            <a:spLocks xmlns:a="http://schemas.openxmlformats.org/drawingml/2006/main" noGrp="1"/>
          </p:cNvSpPr>
          <p:nvPr/>
        </p:nvSpPr>
        <p:spPr>
          <a:xfrm xmlns:a="http://schemas.openxmlformats.org/drawingml/2006/main">
            <a:off x="3714750" y="40195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Inspect reason-coded exceptions. Approve or reject with an explanation in the interface.</a:t>
            </a:r>
          </a:p>
        </p:txBody>
      </p:sp>
      <p:sp>
        <p:nvSpPr>
          <p:cNvPr id="11" name="">
            <a:extLst xmlns:a="http://schemas.openxmlformats.org/drawingml/2006/main">
              <a:ext uri="{FF2B5EF4-FFF2-40B4-BE49-F238E27FC236}">
                <a16:creationId xmlns:a16="http://schemas.microsoft.com/office/drawing/2014/main" id="{AAA44612-545C-47B0-BACD-9B6674E0467A}"/>
              </a:ext>
            </a:extLst>
          </p:cNvPr>
          <p:cNvSpPr>
            <a:spLocks xmlns:a="http://schemas.openxmlformats.org/drawingml/2006/main" noGrp="1"/>
          </p:cNvSpPr>
          <p:nvPr/>
        </p:nvSpPr>
        <p:spPr>
          <a:xfrm xmlns:a="http://schemas.openxmlformats.org/drawingml/2006/main">
            <a:off x="609600" y="49911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04  Export</a:t>
            </a:r>
          </a:p>
        </p:txBody>
      </p:sp>
      <p:sp>
        <p:nvSpPr>
          <p:cNvPr id="12" name="">
            <a:extLst xmlns:a="http://schemas.openxmlformats.org/drawingml/2006/main">
              <a:ext uri="{FF2B5EF4-FFF2-40B4-BE49-F238E27FC236}">
                <a16:creationId xmlns:a16="http://schemas.microsoft.com/office/drawing/2014/main" id="{99D1F6E9-3365-4B6E-A494-538D74CEBD2C}"/>
              </a:ext>
            </a:extLst>
          </p:cNvPr>
          <p:cNvSpPr>
            <a:spLocks xmlns:a="http://schemas.openxmlformats.org/drawingml/2006/main" noGrp="1"/>
          </p:cNvSpPr>
          <p:nvPr/>
        </p:nvSpPr>
        <p:spPr>
          <a:xfrm xmlns:a="http://schemas.openxmlformats.org/drawingml/2006/main">
            <a:off x="3714750" y="49911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Download eligible bills in QuickBooks, Xero or Tally CSV layouts.</a:t>
            </a:r>
          </a:p>
        </p:txBody>
      </p:sp>
    </p:spTree>
    <p:extLst>
      <p:ext uri="{BB962C8B-B14F-4D97-AF65-F5344CB8AC3E}">
        <p14:creationId xmlns:p14="http://schemas.microsoft.com/office/powerpoint/2010/main" val="1091513694"/>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05BDBC-B1E1-4D87-9F9D-F9AED372C6EF}"/>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04  MATCHING LOGIC</a:t>
            </a:r>
          </a:p>
        </p:txBody>
      </p:sp>
      <p:sp>
        <p:nvSpPr>
          <p:cNvPr id="2" name="">
            <a:extLst xmlns:a="http://schemas.openxmlformats.org/drawingml/2006/main">
              <a:ext uri="{FF2B5EF4-FFF2-40B4-BE49-F238E27FC236}">
                <a16:creationId xmlns:a16="http://schemas.microsoft.com/office/drawing/2014/main" id="{ED74C3DD-E415-416F-B5A0-31AD27132D63}"/>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Partial deliveries use cumulative quantities</a:t>
            </a:r>
          </a:p>
        </p:txBody>
      </p:sp>
      <p:sp>
        <p:nvSpPr>
          <p:cNvPr id="3" name="">
            <a:extLst xmlns:a="http://schemas.openxmlformats.org/drawingml/2006/main">
              <a:ext uri="{FF2B5EF4-FFF2-40B4-BE49-F238E27FC236}">
                <a16:creationId xmlns:a16="http://schemas.microsoft.com/office/drawing/2014/main" id="{D12391AE-F46C-4EF0-ACA6-737DDA9660B2}"/>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6BC8D7BC-237C-4DB0-AE6E-C231CE2EE6BC}"/>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05 / 12</a:t>
            </a:r>
          </a:p>
        </p:txBody>
      </p:sp>
      <p:sp>
        <p:nvSpPr>
          <p:cNvPr id="5" name="">
            <a:extLst xmlns:a="http://schemas.openxmlformats.org/drawingml/2006/main">
              <a:ext uri="{FF2B5EF4-FFF2-40B4-BE49-F238E27FC236}">
                <a16:creationId xmlns:a16="http://schemas.microsoft.com/office/drawing/2014/main" id="{8E803BA3-C2C8-48C2-927D-04FFF32793F2}"/>
              </a:ext>
            </a:extLst>
          </p:cNvPr>
          <p:cNvSpPr>
            <a:spLocks xmlns:a="http://schemas.openxmlformats.org/drawingml/2006/main" noGrp="1"/>
          </p:cNvSpPr>
          <p:nvPr/>
        </p:nvSpPr>
        <p:spPr>
          <a:xfrm xmlns:a="http://schemas.openxmlformats.org/drawingml/2006/main">
            <a:off x="609600" y="20193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3"/>
                </a:solidFill>
                <a:latin typeface="Arial"/>
                <a:ea typeface="Arial"/>
                <a:cs typeface="Arial"/>
              </a:defRPr>
            </a:def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Billable quantity = received quantity − previously billed quantity</a:t>
            </a:r>
          </a:p>
        </p:txBody>
      </p:sp>
      <p:graphicFrame>
        <p:nvGraphicFramePr>
          <p:cNvPr id="6" name="">
            <a:extLst xmlns:a="http://schemas.openxmlformats.org/drawingml/2006/main">
              <a:ext uri="{FF2B5EF4-FFF2-40B4-BE49-F238E27FC236}">
                <a16:creationId xmlns:a16="http://schemas.microsoft.com/office/drawing/2014/main" id="{FE23839F-97FD-428C-9555-14A931874968}"/>
              </a:ext>
            </a:extLst>
          </p:cNvPr>
          <p:cNvGraphicFramePr/>
          <p:nvPr/>
        </p:nvGraphicFramePr>
        <p:xfrm>
          <a:off xmlns:a="http://schemas.openxmlformats.org/drawingml/2006/main" x="609600" y="2952750"/>
          <a:ext xmlns:a="http://schemas.openxmlformats.org/drawingml/2006/main" cx="10972800" cy="2647950"/>
        </p:xfrm>
        <a:graphic xmlns:a="http://schemas.openxmlformats.org/drawingml/2006/main">
          <a:graphicData uri="http://schemas.openxmlformats.org/drawingml/2006/table">
            <a:tbl>
              <a:tblPr/>
              <a:tblGrid>
                <a:gridCol w="2667000"/>
                <a:gridCol w="4667250"/>
                <a:gridCol w="3638550"/>
              </a:tblGrid>
              <a:tr h="661988">
                <a:tc>
                  <a:txBody>
                    <a:bodyPr/>
                    <a:lstStyle/>
                    <a:p>
                      <a:r>
                        <a:rPr sz="1650" b="1">
                          <a:solidFill>
                            <a:srgbClr val="FFFFFF"/>
                          </a:solidFill>
                          <a:latin typeface="Arial"/>
                          <a:ea typeface="Arial"/>
                          <a:cs typeface="Arial"/>
                        </a:rPr>
                        <a:t>Stage</a:t>
                      </a:r>
                    </a:p>
                  </a:txBody>
                  <a:tcPr marL="91440" marR="91440" marT="45720" marB="45720">
                    <a:lnL w="6668">
                      <a:solidFill>
                        <a:srgbClr val="D4DAD9"/>
                      </a:solidFill>
                      <a:prstDash val="solid"/>
                    </a:lnL>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Quantity position</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Result</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r>
              <a:tr h="661988">
                <a:tc>
                  <a:txBody>
                    <a:bodyPr/>
                    <a:lstStyle/>
                    <a:p>
                      <a:r>
                        <a:rPr sz="1725" b="0">
                          <a:solidFill>
                            <a:srgbClr val="162638"/>
                          </a:solidFill>
                          <a:latin typeface="Arial"/>
                          <a:ea typeface="Arial"/>
                          <a:cs typeface="Arial"/>
                        </a:rPr>
                        <a:t>First delivery</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40 received, 40 billed</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First invoice matches</a:t>
                      </a:r>
                    </a:p>
                  </a:txBody>
                  <a:tcPr marL="91440" marR="91440" marT="45720" marB="45720">
                    <a:lnR w="6668">
                      <a:solidFill>
                        <a:srgbClr val="D4DAD9"/>
                      </a:solidFill>
                      <a:prstDash val="solid"/>
                    </a:lnR>
                    <a:lnB w="6668">
                      <a:solidFill>
                        <a:srgbClr val="D4DAD9"/>
                      </a:solidFill>
                      <a:prstDash val="solid"/>
                    </a:lnB>
                    <a:solidFill>
                      <a:srgbClr val="FFFFFF"/>
                    </a:solidFill>
                  </a:tcPr>
                </a:tc>
              </a:tr>
              <a:tr h="661988">
                <a:tc>
                  <a:txBody>
                    <a:bodyPr/>
                    <a:lstStyle/>
                    <a:p>
                      <a:r>
                        <a:rPr sz="1725" b="0">
                          <a:solidFill>
                            <a:srgbClr val="162638"/>
                          </a:solidFill>
                          <a:latin typeface="Arial"/>
                          <a:ea typeface="Arial"/>
                          <a:cs typeface="Arial"/>
                        </a:rPr>
                        <a:t>Second bill arrives</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40 received − 40 billed = 0</a:t>
                      </a:r>
                    </a:p>
                  </a:txBody>
                  <a:tcPr marL="91440" marR="91440" marT="45720" marB="45720">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60-unit bill raises exception</a:t>
                      </a:r>
                    </a:p>
                  </a:txBody>
                  <a:tcPr marL="91440" marR="91440" marT="45720" marB="45720">
                    <a:lnR w="6668">
                      <a:solidFill>
                        <a:srgbClr val="D4DAD9"/>
                      </a:solidFill>
                      <a:prstDash val="solid"/>
                    </a:lnR>
                    <a:lnB w="6668">
                      <a:solidFill>
                        <a:srgbClr val="D4DAD9"/>
                      </a:solidFill>
                      <a:prstDash val="solid"/>
                    </a:lnB>
                    <a:solidFill>
                      <a:srgbClr val="EAEFEA"/>
                    </a:solidFill>
                  </a:tcPr>
                </a:tc>
              </a:tr>
              <a:tr h="661988">
                <a:tc>
                  <a:txBody>
                    <a:bodyPr/>
                    <a:lstStyle/>
                    <a:p>
                      <a:r>
                        <a:rPr sz="1725" b="0">
                          <a:solidFill>
                            <a:srgbClr val="162638"/>
                          </a:solidFill>
                          <a:latin typeface="Arial"/>
                          <a:ea typeface="Arial"/>
                          <a:cs typeface="Arial"/>
                        </a:rPr>
                        <a:t>Remaining delivery</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100 received − 40 billed = 60</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Second invoice matches</a:t>
                      </a:r>
                    </a:p>
                  </a:txBody>
                  <a:tcPr marL="91440" marR="91440" marT="45720" marB="45720">
                    <a:lnR w="6668">
                      <a:solidFill>
                        <a:srgbClr val="D4DAD9"/>
                      </a:solidFill>
                      <a:prstDash val="solid"/>
                    </a:lnR>
                    <a:lnB w="6668">
                      <a:solidFill>
                        <a:srgbClr val="D4DAD9"/>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C05DA4A-7EC1-4A41-865F-BEBDEAE596D8}"/>
              </a:ext>
            </a:extLst>
          </p:cNvPr>
          <p:cNvSpPr>
            <a:spLocks xmlns:a="http://schemas.openxmlformats.org/drawingml/2006/main" noGrp="1"/>
          </p:cNvSpPr>
          <p:nvPr/>
        </p:nvSpPr>
        <p:spPr>
          <a:xfrm xmlns:a="http://schemas.openxmlformats.org/drawingml/2006/main">
            <a:off x="609600" y="582930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6273"/>
                </a:solidFill>
                <a:latin typeface="Arial"/>
                <a:ea typeface="Arial"/>
                <a:cs typeface="Arial"/>
              </a:defRPr>
            </a:defPPr>
          </a:lstStyle>
          <a:p xmlns:a="http://schemas.openxmlformats.org/drawingml/2006/main">
            <a:pPr>
              <a:defRPr sz="1725" b="0">
                <a:solidFill>
                  <a:srgbClr val="546273"/>
                </a:solidFill>
                <a:latin typeface="Arial"/>
                <a:ea typeface="Arial"/>
                <a:cs typeface="Arial"/>
              </a:defRPr>
            </a:pPr>
            <a:r>
              <a:rPr sz="1725" b="0">
                <a:solidFill>
                  <a:srgbClr val="546273"/>
                </a:solidFill>
                <a:latin typeface="Arial"/>
                <a:ea typeface="Arial"/>
                <a:cs typeface="Arial"/>
              </a:rPr>
              <a:t>The engine also checks the original order limit and unit-price tolerances.</a:t>
            </a:r>
          </a:p>
        </p:txBody>
      </p:sp>
    </p:spTree>
    <p:extLst>
      <p:ext uri="{BB962C8B-B14F-4D97-AF65-F5344CB8AC3E}">
        <p14:creationId xmlns:p14="http://schemas.microsoft.com/office/powerpoint/2010/main" val="2125049088"/>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B01BC-3909-4F2A-84FE-79D8CA3241F7}"/>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05  DECISION CONTROLS</a:t>
            </a:r>
          </a:p>
        </p:txBody>
      </p:sp>
      <p:sp>
        <p:nvSpPr>
          <p:cNvPr id="2" name="">
            <a:extLst xmlns:a="http://schemas.openxmlformats.org/drawingml/2006/main">
              <a:ext uri="{FF2B5EF4-FFF2-40B4-BE49-F238E27FC236}">
                <a16:creationId xmlns:a16="http://schemas.microsoft.com/office/drawing/2014/main" id="{3E3FF25F-290E-4A80-8692-5866DCBE3FB1}"/>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Matching rules and exception handling</a:t>
            </a:r>
          </a:p>
        </p:txBody>
      </p:sp>
      <p:sp>
        <p:nvSpPr>
          <p:cNvPr id="3" name="">
            <a:extLst xmlns:a="http://schemas.openxmlformats.org/drawingml/2006/main">
              <a:ext uri="{FF2B5EF4-FFF2-40B4-BE49-F238E27FC236}">
                <a16:creationId xmlns:a16="http://schemas.microsoft.com/office/drawing/2014/main" id="{1434DC36-EF76-45D0-BE6A-AF38268D75D8}"/>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CE2F2233-E2EC-46EC-A854-3B3774C8BC06}"/>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06 / 12</a:t>
            </a:r>
          </a:p>
        </p:txBody>
      </p:sp>
      <p:sp>
        <p:nvSpPr>
          <p:cNvPr id="5" name="">
            <a:extLst xmlns:a="http://schemas.openxmlformats.org/drawingml/2006/main">
              <a:ext uri="{FF2B5EF4-FFF2-40B4-BE49-F238E27FC236}">
                <a16:creationId xmlns:a16="http://schemas.microsoft.com/office/drawing/2014/main" id="{209261C2-D0A3-441A-8323-A18D608C5847}"/>
              </a:ext>
            </a:extLst>
          </p:cNvPr>
          <p:cNvSpPr>
            <a:spLocks xmlns:a="http://schemas.openxmlformats.org/drawingml/2006/main" noGrp="1"/>
          </p:cNvSpPr>
          <p:nvPr/>
        </p:nvSpPr>
        <p:spPr>
          <a:xfrm xmlns:a="http://schemas.openxmlformats.org/drawingml/2006/main">
            <a:off x="609600" y="20955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Document checks</a:t>
            </a:r>
          </a:p>
        </p:txBody>
      </p:sp>
      <p:sp>
        <p:nvSpPr>
          <p:cNvPr id="6" name="">
            <a:extLst xmlns:a="http://schemas.openxmlformats.org/drawingml/2006/main">
              <a:ext uri="{FF2B5EF4-FFF2-40B4-BE49-F238E27FC236}">
                <a16:creationId xmlns:a16="http://schemas.microsoft.com/office/drawing/2014/main" id="{FABC2803-B08D-4031-A58A-67BDC9A28906}"/>
              </a:ext>
            </a:extLst>
          </p:cNvPr>
          <p:cNvSpPr>
            <a:spLocks xmlns:a="http://schemas.openxmlformats.org/drawingml/2006/main" noGrp="1"/>
          </p:cNvSpPr>
          <p:nvPr/>
        </p:nvSpPr>
        <p:spPr>
          <a:xfrm xmlns:a="http://schemas.openxmlformats.org/drawingml/2006/main">
            <a:off x="3714750" y="20955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Duplicate invoice, missing purchase order and currency mismatch.</a:t>
            </a:r>
          </a:p>
        </p:txBody>
      </p:sp>
      <p:sp>
        <p:nvSpPr>
          <p:cNvPr id="7" name="">
            <a:extLst xmlns:a="http://schemas.openxmlformats.org/drawingml/2006/main">
              <a:ext uri="{FF2B5EF4-FFF2-40B4-BE49-F238E27FC236}">
                <a16:creationId xmlns:a16="http://schemas.microsoft.com/office/drawing/2014/main" id="{4DBC7D4C-0431-45EC-92C6-EFF8B8CB3CB4}"/>
              </a:ext>
            </a:extLst>
          </p:cNvPr>
          <p:cNvSpPr>
            <a:spLocks xmlns:a="http://schemas.openxmlformats.org/drawingml/2006/main" noGrp="1"/>
          </p:cNvSpPr>
          <p:nvPr/>
        </p:nvSpPr>
        <p:spPr>
          <a:xfrm xmlns:a="http://schemas.openxmlformats.org/drawingml/2006/main">
            <a:off x="609600" y="30575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Line checks</a:t>
            </a:r>
          </a:p>
        </p:txBody>
      </p:sp>
      <p:sp>
        <p:nvSpPr>
          <p:cNvPr id="8" name="">
            <a:extLst xmlns:a="http://schemas.openxmlformats.org/drawingml/2006/main">
              <a:ext uri="{FF2B5EF4-FFF2-40B4-BE49-F238E27FC236}">
                <a16:creationId xmlns:a16="http://schemas.microsoft.com/office/drawing/2014/main" id="{F84628A5-18E7-4C1E-8DFE-86C753AC2AB6}"/>
              </a:ext>
            </a:extLst>
          </p:cNvPr>
          <p:cNvSpPr>
            <a:spLocks xmlns:a="http://schemas.openxmlformats.org/drawingml/2006/main" noGrp="1"/>
          </p:cNvSpPr>
          <p:nvPr/>
        </p:nvSpPr>
        <p:spPr>
          <a:xfrm xmlns:a="http://schemas.openxmlformats.org/drawingml/2006/main">
            <a:off x="3714750" y="305752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SKU or description mapping, received quantity, order limit and unit price.</a:t>
            </a:r>
          </a:p>
        </p:txBody>
      </p:sp>
      <p:sp>
        <p:nvSpPr>
          <p:cNvPr id="9" name="">
            <a:extLst xmlns:a="http://schemas.openxmlformats.org/drawingml/2006/main">
              <a:ext uri="{FF2B5EF4-FFF2-40B4-BE49-F238E27FC236}">
                <a16:creationId xmlns:a16="http://schemas.microsoft.com/office/drawing/2014/main" id="{AB811AAC-061C-4798-9E86-AFD903B0ADDC}"/>
              </a:ext>
            </a:extLst>
          </p:cNvPr>
          <p:cNvSpPr>
            <a:spLocks xmlns:a="http://schemas.openxmlformats.org/drawingml/2006/main" noGrp="1"/>
          </p:cNvSpPr>
          <p:nvPr/>
        </p:nvSpPr>
        <p:spPr>
          <a:xfrm xmlns:a="http://schemas.openxmlformats.org/drawingml/2006/main">
            <a:off x="609600" y="40195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Tolerance rules</a:t>
            </a:r>
          </a:p>
        </p:txBody>
      </p:sp>
      <p:sp>
        <p:nvSpPr>
          <p:cNvPr id="10" name="">
            <a:extLst xmlns:a="http://schemas.openxmlformats.org/drawingml/2006/main">
              <a:ext uri="{FF2B5EF4-FFF2-40B4-BE49-F238E27FC236}">
                <a16:creationId xmlns:a16="http://schemas.microsoft.com/office/drawing/2014/main" id="{C845E3C8-5FE6-41BD-AA50-88C404AE9119}"/>
              </a:ext>
            </a:extLst>
          </p:cNvPr>
          <p:cNvSpPr>
            <a:spLocks xmlns:a="http://schemas.openxmlformats.org/drawingml/2006/main" noGrp="1"/>
          </p:cNvSpPr>
          <p:nvPr/>
        </p:nvSpPr>
        <p:spPr>
          <a:xfrm xmlns:a="http://schemas.openxmlformats.org/drawingml/2006/main">
            <a:off x="3714750" y="40195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Vendor rules take precedence over tenant defaults. Default price bounds are 1.5% or $5 per unit.</a:t>
            </a:r>
          </a:p>
        </p:txBody>
      </p:sp>
      <p:sp>
        <p:nvSpPr>
          <p:cNvPr id="11" name="">
            <a:extLst xmlns:a="http://schemas.openxmlformats.org/drawingml/2006/main">
              <a:ext uri="{FF2B5EF4-FFF2-40B4-BE49-F238E27FC236}">
                <a16:creationId xmlns:a16="http://schemas.microsoft.com/office/drawing/2014/main" id="{72BA07B9-278F-401A-BBE4-5E4CE9DFCA1F}"/>
              </a:ext>
            </a:extLst>
          </p:cNvPr>
          <p:cNvSpPr>
            <a:spLocks xmlns:a="http://schemas.openxmlformats.org/drawingml/2006/main" noGrp="1"/>
          </p:cNvSpPr>
          <p:nvPr/>
        </p:nvSpPr>
        <p:spPr>
          <a:xfrm xmlns:a="http://schemas.openxmlformats.org/drawingml/2006/main">
            <a:off x="609600" y="49815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Human decisions</a:t>
            </a:r>
          </a:p>
        </p:txBody>
      </p:sp>
      <p:sp>
        <p:nvSpPr>
          <p:cNvPr id="12" name="">
            <a:extLst xmlns:a="http://schemas.openxmlformats.org/drawingml/2006/main">
              <a:ext uri="{FF2B5EF4-FFF2-40B4-BE49-F238E27FC236}">
                <a16:creationId xmlns:a16="http://schemas.microsoft.com/office/drawing/2014/main" id="{327B5757-0C5E-48E3-B439-BC4D38E5F878}"/>
              </a:ext>
            </a:extLst>
          </p:cNvPr>
          <p:cNvSpPr>
            <a:spLocks xmlns:a="http://schemas.openxmlformats.org/drawingml/2006/main" noGrp="1"/>
          </p:cNvSpPr>
          <p:nvPr/>
        </p:nvSpPr>
        <p:spPr>
          <a:xfrm xmlns:a="http://schemas.openxmlformats.org/drawingml/2006/main">
            <a:off x="3714750" y="4981575"/>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Exceptions carry severity and a three-day deadline. Overrides create an audit entry.</a:t>
            </a:r>
          </a:p>
        </p:txBody>
      </p:sp>
    </p:spTree>
    <p:extLst>
      <p:ext uri="{BB962C8B-B14F-4D97-AF65-F5344CB8AC3E}">
        <p14:creationId xmlns:p14="http://schemas.microsoft.com/office/powerpoint/2010/main" val="2053510026"/>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084F38-0410-4A5A-9542-AFB0A793CBCD}"/>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06  ARCHITECTURE</a:t>
            </a:r>
          </a:p>
        </p:txBody>
      </p:sp>
      <p:sp>
        <p:nvSpPr>
          <p:cNvPr id="2" name="">
            <a:extLst xmlns:a="http://schemas.openxmlformats.org/drawingml/2006/main">
              <a:ext uri="{FF2B5EF4-FFF2-40B4-BE49-F238E27FC236}">
                <a16:creationId xmlns:a16="http://schemas.microsoft.com/office/drawing/2014/main" id="{E6D96004-3971-42C0-8C41-EA548669F252}"/>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The codebase contains two backend paths</a:t>
            </a:r>
          </a:p>
        </p:txBody>
      </p:sp>
      <p:sp>
        <p:nvSpPr>
          <p:cNvPr id="3" name="">
            <a:extLst xmlns:a="http://schemas.openxmlformats.org/drawingml/2006/main">
              <a:ext uri="{FF2B5EF4-FFF2-40B4-BE49-F238E27FC236}">
                <a16:creationId xmlns:a16="http://schemas.microsoft.com/office/drawing/2014/main" id="{271D39D4-A4D0-4309-A32E-85408783E991}"/>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79F37F06-74E7-40FF-A555-2FAAA6F64918}"/>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07 / 12</a:t>
            </a:r>
          </a:p>
        </p:txBody>
      </p:sp>
      <p:sp>
        <p:nvSpPr>
          <p:cNvPr id="5" name="">
            <a:extLst xmlns:a="http://schemas.openxmlformats.org/drawingml/2006/main">
              <a:ext uri="{FF2B5EF4-FFF2-40B4-BE49-F238E27FC236}">
                <a16:creationId xmlns:a16="http://schemas.microsoft.com/office/drawing/2014/main" id="{52B07F97-AB12-47FC-B8B4-22D9D42740C4}"/>
              </a:ext>
            </a:extLst>
          </p:cNvPr>
          <p:cNvSpPr>
            <a:spLocks xmlns:a="http://schemas.openxmlformats.org/drawingml/2006/main" noGrp="1"/>
          </p:cNvSpPr>
          <p:nvPr/>
        </p:nvSpPr>
        <p:spPr>
          <a:xfrm xmlns:a="http://schemas.openxmlformats.org/drawingml/2006/main">
            <a:off x="609600" y="20955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Browser</a:t>
            </a:r>
          </a:p>
        </p:txBody>
      </p:sp>
      <p:sp>
        <p:nvSpPr>
          <p:cNvPr id="6" name="">
            <a:extLst xmlns:a="http://schemas.openxmlformats.org/drawingml/2006/main">
              <a:ext uri="{FF2B5EF4-FFF2-40B4-BE49-F238E27FC236}">
                <a16:creationId xmlns:a16="http://schemas.microsoft.com/office/drawing/2014/main" id="{D9F177AF-D357-43B7-A36F-8A64B746D36B}"/>
              </a:ext>
            </a:extLst>
          </p:cNvPr>
          <p:cNvSpPr>
            <a:spLocks xmlns:a="http://schemas.openxmlformats.org/drawingml/2006/main" noGrp="1"/>
          </p:cNvSpPr>
          <p:nvPr/>
        </p:nvSpPr>
        <p:spPr>
          <a:xfrm xmlns:a="http://schemas.openxmlformats.org/drawingml/2006/main">
            <a:off x="3714750" y="20955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HTML, CSS and plain JavaScript call /api/v1. React is not part of the implemented frontend.</a:t>
            </a:r>
          </a:p>
        </p:txBody>
      </p:sp>
      <p:sp>
        <p:nvSpPr>
          <p:cNvPr id="7" name="">
            <a:extLst xmlns:a="http://schemas.openxmlformats.org/drawingml/2006/main">
              <a:ext uri="{FF2B5EF4-FFF2-40B4-BE49-F238E27FC236}">
                <a16:creationId xmlns:a16="http://schemas.microsoft.com/office/drawing/2014/main" id="{CE07B070-FBF2-47D1-839B-B2D2D3D3415C}"/>
              </a:ext>
            </a:extLst>
          </p:cNvPr>
          <p:cNvSpPr>
            <a:spLocks xmlns:a="http://schemas.openxmlformats.org/drawingml/2006/main" noGrp="1"/>
          </p:cNvSpPr>
          <p:nvPr/>
        </p:nvSpPr>
        <p:spPr>
          <a:xfrm xmlns:a="http://schemas.openxmlformats.org/drawingml/2006/main">
            <a:off x="609600" y="306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Default launch path</a:t>
            </a:r>
          </a:p>
        </p:txBody>
      </p:sp>
      <p:sp>
        <p:nvSpPr>
          <p:cNvPr id="8" name="">
            <a:extLst xmlns:a="http://schemas.openxmlformats.org/drawingml/2006/main">
              <a:ext uri="{FF2B5EF4-FFF2-40B4-BE49-F238E27FC236}">
                <a16:creationId xmlns:a16="http://schemas.microsoft.com/office/drawing/2014/main" id="{3F63885B-52C0-4FF0-983A-D6725E33323D}"/>
              </a:ext>
            </a:extLst>
          </p:cNvPr>
          <p:cNvSpPr>
            <a:spLocks xmlns:a="http://schemas.openxmlformats.org/drawingml/2006/main" noGrp="1"/>
          </p:cNvSpPr>
          <p:nvPr/>
        </p:nvSpPr>
        <p:spPr>
          <a:xfrm xmlns:a="http://schemas.openxmlformats.org/drawingml/2006/main">
            <a:off x="3714750" y="30670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Node.js and Express serve the UI and eight API route groups. Mongoose connects to MongoDB.</a:t>
            </a:r>
          </a:p>
        </p:txBody>
      </p:sp>
      <p:sp>
        <p:nvSpPr>
          <p:cNvPr id="9" name="">
            <a:extLst xmlns:a="http://schemas.openxmlformats.org/drawingml/2006/main">
              <a:ext uri="{FF2B5EF4-FFF2-40B4-BE49-F238E27FC236}">
                <a16:creationId xmlns:a16="http://schemas.microsoft.com/office/drawing/2014/main" id="{E22E895F-35E1-4F84-A385-83EA67B6C440}"/>
              </a:ext>
            </a:extLst>
          </p:cNvPr>
          <p:cNvSpPr>
            <a:spLocks xmlns:a="http://schemas.openxmlformats.org/drawingml/2006/main" noGrp="1"/>
          </p:cNvSpPr>
          <p:nvPr/>
        </p:nvSpPr>
        <p:spPr>
          <a:xfrm xmlns:a="http://schemas.openxmlformats.org/drawingml/2006/main">
            <a:off x="609600" y="40386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Alternative backend</a:t>
            </a:r>
          </a:p>
        </p:txBody>
      </p:sp>
      <p:sp>
        <p:nvSpPr>
          <p:cNvPr id="10" name="">
            <a:extLst xmlns:a="http://schemas.openxmlformats.org/drawingml/2006/main">
              <a:ext uri="{FF2B5EF4-FFF2-40B4-BE49-F238E27FC236}">
                <a16:creationId xmlns:a16="http://schemas.microsoft.com/office/drawing/2014/main" id="{30234469-31D0-454A-977C-E1D3EA7DCBA9}"/>
              </a:ext>
            </a:extLst>
          </p:cNvPr>
          <p:cNvSpPr>
            <a:spLocks xmlns:a="http://schemas.openxmlformats.org/drawingml/2006/main" noGrp="1"/>
          </p:cNvSpPr>
          <p:nvPr/>
        </p:nvSpPr>
        <p:spPr>
          <a:xfrm xmlns:a="http://schemas.openxmlformats.org/drawingml/2006/main">
            <a:off x="3714750" y="40386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Python FastAPI and SQLAlchemy remain in backend/. Its default database is SQLite.</a:t>
            </a:r>
          </a:p>
        </p:txBody>
      </p:sp>
      <p:sp>
        <p:nvSpPr>
          <p:cNvPr id="11" name="">
            <a:extLst xmlns:a="http://schemas.openxmlformats.org/drawingml/2006/main">
              <a:ext uri="{FF2B5EF4-FFF2-40B4-BE49-F238E27FC236}">
                <a16:creationId xmlns:a16="http://schemas.microsoft.com/office/drawing/2014/main" id="{B916024F-6EC8-4B55-8FAC-609FD4B0573A}"/>
              </a:ext>
            </a:extLst>
          </p:cNvPr>
          <p:cNvSpPr>
            <a:spLocks xmlns:a="http://schemas.openxmlformats.org/drawingml/2006/main" noGrp="1"/>
          </p:cNvSpPr>
          <p:nvPr/>
        </p:nvSpPr>
        <p:spPr>
          <a:xfrm xmlns:a="http://schemas.openxmlformats.org/drawingml/2006/main">
            <a:off x="609600" y="50101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Arial"/>
                <a:ea typeface="Arial"/>
                <a:cs typeface="Arial"/>
              </a:defRPr>
            </a:defPPr>
          </a:lstStyle>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Architecture decision</a:t>
            </a:r>
          </a:p>
        </p:txBody>
      </p:sp>
      <p:sp>
        <p:nvSpPr>
          <p:cNvPr id="12" name="">
            <a:extLst xmlns:a="http://schemas.openxmlformats.org/drawingml/2006/main">
              <a:ext uri="{FF2B5EF4-FFF2-40B4-BE49-F238E27FC236}">
                <a16:creationId xmlns:a16="http://schemas.microsoft.com/office/drawing/2014/main" id="{8C9AF051-04ED-4AD1-A521-8320B388B21E}"/>
              </a:ext>
            </a:extLst>
          </p:cNvPr>
          <p:cNvSpPr>
            <a:spLocks xmlns:a="http://schemas.openxmlformats.org/drawingml/2006/main" noGrp="1"/>
          </p:cNvSpPr>
          <p:nvPr/>
        </p:nvSpPr>
        <p:spPr>
          <a:xfrm xmlns:a="http://schemas.openxmlformats.org/drawingml/2006/main">
            <a:off x="3714750" y="50101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638"/>
                </a:solidFill>
                <a:latin typeface="Arial"/>
                <a:ea typeface="Arial"/>
                <a:cs typeface="Arial"/>
              </a:defRPr>
            </a:defPPr>
          </a:lstStyle>
          <a:p xmlns:a="http://schemas.openxmlformats.org/drawingml/2006/main">
            <a:pPr>
              <a:defRPr sz="1950" b="0">
                <a:solidFill>
                  <a:srgbClr val="162638"/>
                </a:solidFill>
                <a:latin typeface="Arial"/>
                <a:ea typeface="Arial"/>
                <a:cs typeface="Arial"/>
              </a:defRPr>
            </a:pPr>
            <a:r>
              <a:rPr sz="1950" b="0">
                <a:solidFill>
                  <a:srgbClr val="162638"/>
                </a:solidFill>
                <a:latin typeface="Arial"/>
                <a:ea typeface="Arial"/>
                <a:cs typeface="Arial"/>
              </a:rPr>
              <a:t>Choose one supported backend and align the design documents with that implementation.</a:t>
            </a:r>
          </a:p>
        </p:txBody>
      </p:sp>
    </p:spTree>
    <p:extLst>
      <p:ext uri="{BB962C8B-B14F-4D97-AF65-F5344CB8AC3E}">
        <p14:creationId xmlns:p14="http://schemas.microsoft.com/office/powerpoint/2010/main" val="2111173361"/>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5EBF12-A9C9-420D-A726-85164D0EC36B}"/>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07  DATA AND INTEGRATIONS</a:t>
            </a:r>
          </a:p>
        </p:txBody>
      </p:sp>
      <p:sp>
        <p:nvSpPr>
          <p:cNvPr id="2" name="">
            <a:extLst xmlns:a="http://schemas.openxmlformats.org/drawingml/2006/main">
              <a:ext uri="{FF2B5EF4-FFF2-40B4-BE49-F238E27FC236}">
                <a16:creationId xmlns:a16="http://schemas.microsoft.com/office/drawing/2014/main" id="{4B38D238-AFAD-4C0A-BB78-A0A4E854B8BA}"/>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The data model covers the core business records</a:t>
            </a:r>
          </a:p>
        </p:txBody>
      </p:sp>
      <p:sp>
        <p:nvSpPr>
          <p:cNvPr id="3" name="">
            <a:extLst xmlns:a="http://schemas.openxmlformats.org/drawingml/2006/main">
              <a:ext uri="{FF2B5EF4-FFF2-40B4-BE49-F238E27FC236}">
                <a16:creationId xmlns:a16="http://schemas.microsoft.com/office/drawing/2014/main" id="{7EB1C6B1-504D-4E88-B335-163301A4E96F}"/>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FC5DB422-5713-400B-BD86-068F6209B664}"/>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08 / 12</a:t>
            </a:r>
          </a:p>
        </p:txBody>
      </p:sp>
      <p:graphicFrame>
        <p:nvGraphicFramePr>
          <p:cNvPr id="5" name="">
            <a:extLst xmlns:a="http://schemas.openxmlformats.org/drawingml/2006/main">
              <a:ext uri="{FF2B5EF4-FFF2-40B4-BE49-F238E27FC236}">
                <a16:creationId xmlns:a16="http://schemas.microsoft.com/office/drawing/2014/main" id="{1119545D-CDDC-4B2B-A6EB-BA0D16385B0B}"/>
              </a:ext>
            </a:extLst>
          </p:cNvPr>
          <p:cNvGraphicFramePr/>
          <p:nvPr/>
        </p:nvGraphicFramePr>
        <p:xfrm>
          <a:off xmlns:a="http://schemas.openxmlformats.org/drawingml/2006/main" x="609600" y="2133600"/>
          <a:ext xmlns:a="http://schemas.openxmlformats.org/drawingml/2006/main" cx="10972800" cy="3190875"/>
        </p:xfrm>
        <a:graphic xmlns:a="http://schemas.openxmlformats.org/drawingml/2006/main">
          <a:graphicData uri="http://schemas.openxmlformats.org/drawingml/2006/table">
            <a:tbl>
              <a:tblPr/>
              <a:tblGrid>
                <a:gridCol w="2524125"/>
                <a:gridCol w="4667250"/>
                <a:gridCol w="3781425"/>
              </a:tblGrid>
              <a:tr h="797719">
                <a:tc>
                  <a:txBody>
                    <a:bodyPr/>
                    <a:lstStyle/>
                    <a:p>
                      <a:r>
                        <a:rPr sz="1650" b="1">
                          <a:solidFill>
                            <a:srgbClr val="FFFFFF"/>
                          </a:solidFill>
                          <a:latin typeface="Arial"/>
                          <a:ea typeface="Arial"/>
                          <a:cs typeface="Arial"/>
                        </a:rPr>
                        <a:t>Record group</a:t>
                      </a:r>
                    </a:p>
                  </a:txBody>
                  <a:tcPr marL="91440" marR="91440" marT="45720" marB="45720">
                    <a:lnL w="6668">
                      <a:solidFill>
                        <a:srgbClr val="D4DAD9"/>
                      </a:solidFill>
                      <a:prstDash val="solid"/>
                    </a:lnL>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Models</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Responsibility</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r>
              <a:tr h="797719">
                <a:tc>
                  <a:txBody>
                    <a:bodyPr/>
                    <a:lstStyle/>
                    <a:p>
                      <a:r>
                        <a:rPr sz="1725" b="0">
                          <a:solidFill>
                            <a:srgbClr val="162638"/>
                          </a:solidFill>
                          <a:latin typeface="Arial"/>
                          <a:ea typeface="Arial"/>
                          <a:cs typeface="Arial"/>
                        </a:rPr>
                        <a:t>Organization</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Tenant, User, Vendor</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Identity and supplier details</a:t>
                      </a:r>
                    </a:p>
                  </a:txBody>
                  <a:tcPr marL="91440" marR="91440" marT="45720" marB="45720">
                    <a:lnR w="6668">
                      <a:solidFill>
                        <a:srgbClr val="D4DAD9"/>
                      </a:solidFill>
                      <a:prstDash val="solid"/>
                    </a:lnR>
                    <a:lnB w="6668">
                      <a:solidFill>
                        <a:srgbClr val="D4DAD9"/>
                      </a:solidFill>
                      <a:prstDash val="solid"/>
                    </a:lnB>
                    <a:solidFill>
                      <a:srgbClr val="FFFFFF"/>
                    </a:solidFill>
                  </a:tcPr>
                </a:tc>
              </a:tr>
              <a:tr h="797719">
                <a:tc>
                  <a:txBody>
                    <a:bodyPr/>
                    <a:lstStyle/>
                    <a:p>
                      <a:r>
                        <a:rPr sz="1725" b="0">
                          <a:solidFill>
                            <a:srgbClr val="162638"/>
                          </a:solidFill>
                          <a:latin typeface="Arial"/>
                          <a:ea typeface="Arial"/>
                          <a:cs typeface="Arial"/>
                        </a:rPr>
                        <a:t>Source documents</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PurchaseOrder, GoodsReceipt, Invoice</a:t>
                      </a:r>
                    </a:p>
                  </a:txBody>
                  <a:tcPr marL="91440" marR="91440" marT="45720" marB="45720">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Embedded line-item data</a:t>
                      </a:r>
                    </a:p>
                  </a:txBody>
                  <a:tcPr marL="91440" marR="91440" marT="45720" marB="45720">
                    <a:lnR w="6668">
                      <a:solidFill>
                        <a:srgbClr val="D4DAD9"/>
                      </a:solidFill>
                      <a:prstDash val="solid"/>
                    </a:lnR>
                    <a:lnB w="6668">
                      <a:solidFill>
                        <a:srgbClr val="D4DAD9"/>
                      </a:solidFill>
                      <a:prstDash val="solid"/>
                    </a:lnB>
                    <a:solidFill>
                      <a:srgbClr val="EAEFEA"/>
                    </a:solidFill>
                  </a:tcPr>
                </a:tc>
              </a:tr>
              <a:tr h="797719">
                <a:tc>
                  <a:txBody>
                    <a:bodyPr/>
                    <a:lstStyle/>
                    <a:p>
                      <a:r>
                        <a:rPr sz="1725" b="0">
                          <a:solidFill>
                            <a:srgbClr val="162638"/>
                          </a:solidFill>
                          <a:latin typeface="Arial"/>
                          <a:ea typeface="Arial"/>
                          <a:cs typeface="Arial"/>
                        </a:rPr>
                        <a:t>Decision evidence</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ToleranceRule, MatchRun, Exception, AuditLog</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Rules, outcomes and overrides</a:t>
                      </a:r>
                    </a:p>
                  </a:txBody>
                  <a:tcPr marL="91440" marR="91440" marT="45720" marB="45720">
                    <a:lnR w="6668">
                      <a:solidFill>
                        <a:srgbClr val="D4DAD9"/>
                      </a:solidFill>
                      <a:prstDash val="solid"/>
                    </a:lnR>
                    <a:lnB w="6668">
                      <a:solidFill>
                        <a:srgbClr val="D4DAD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F8B44C7-4E37-47AB-8F69-4AE7C318727A}"/>
              </a:ext>
            </a:extLst>
          </p:cNvPr>
          <p:cNvSpPr>
            <a:spLocks xmlns:a="http://schemas.openxmlformats.org/drawingml/2006/main" noGrp="1"/>
          </p:cNvSpPr>
          <p:nvPr/>
        </p:nvSpPr>
        <p:spPr>
          <a:xfrm xmlns:a="http://schemas.openxmlformats.org/drawingml/2006/main">
            <a:off x="609600" y="5600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E83"/>
                </a:solidFill>
                <a:latin typeface="Arial"/>
                <a:ea typeface="Arial"/>
                <a:cs typeface="Arial"/>
              </a:defRPr>
            </a:defPPr>
          </a:lstStyle>
          <a:p xmlns:a="http://schemas.openxmlformats.org/drawingml/2006/main">
            <a:pPr>
              <a:defRPr sz="1950" b="1">
                <a:solidFill>
                  <a:srgbClr val="087E83"/>
                </a:solidFill>
                <a:latin typeface="Arial"/>
                <a:ea typeface="Arial"/>
                <a:cs typeface="Arial"/>
              </a:defRPr>
            </a:pPr>
            <a:r>
              <a:rPr sz="1950" b="1">
                <a:solidFill>
                  <a:srgbClr val="087E83"/>
                </a:solidFill>
                <a:latin typeface="Arial"/>
                <a:ea typeface="Arial"/>
                <a:cs typeface="Arial"/>
              </a:rPr>
              <a:t>Accounting integration currently produces CSV files. Live accounting sync and durable export tracking remain future work.</a:t>
            </a:r>
          </a:p>
        </p:txBody>
      </p:sp>
    </p:spTree>
    <p:extLst>
      <p:ext uri="{BB962C8B-B14F-4D97-AF65-F5344CB8AC3E}">
        <p14:creationId xmlns:p14="http://schemas.microsoft.com/office/powerpoint/2010/main" val="493097269"/>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793FB6-428A-4C44-B550-20612DDF771A}"/>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08  FEATURE MATURITY</a:t>
            </a:r>
          </a:p>
        </p:txBody>
      </p:sp>
      <p:sp>
        <p:nvSpPr>
          <p:cNvPr id="2" name="">
            <a:extLst xmlns:a="http://schemas.openxmlformats.org/drawingml/2006/main">
              <a:ext uri="{FF2B5EF4-FFF2-40B4-BE49-F238E27FC236}">
                <a16:creationId xmlns:a16="http://schemas.microsoft.com/office/drawing/2014/main" id="{7431A69B-EB06-4929-9AFA-53F392538200}"/>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Implementation differs from the specification</a:t>
            </a:r>
          </a:p>
        </p:txBody>
      </p:sp>
      <p:sp>
        <p:nvSpPr>
          <p:cNvPr id="3" name="">
            <a:extLst xmlns:a="http://schemas.openxmlformats.org/drawingml/2006/main">
              <a:ext uri="{FF2B5EF4-FFF2-40B4-BE49-F238E27FC236}">
                <a16:creationId xmlns:a16="http://schemas.microsoft.com/office/drawing/2014/main" id="{C6859E61-E778-4DAF-A177-6FCE33B6C829}"/>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90B70E42-D8E2-4499-A5E7-A4F217903308}"/>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09 / 12</a:t>
            </a:r>
          </a:p>
        </p:txBody>
      </p:sp>
      <p:graphicFrame>
        <p:nvGraphicFramePr>
          <p:cNvPr id="5" name="">
            <a:extLst xmlns:a="http://schemas.openxmlformats.org/drawingml/2006/main">
              <a:ext uri="{FF2B5EF4-FFF2-40B4-BE49-F238E27FC236}">
                <a16:creationId xmlns:a16="http://schemas.microsoft.com/office/drawing/2014/main" id="{A1A17206-1D67-4787-ADBD-BA64CBDD201C}"/>
              </a:ext>
            </a:extLst>
          </p:cNvPr>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table">
            <a:tbl>
              <a:tblPr/>
              <a:tblGrid>
                <a:gridCol w="2524125"/>
                <a:gridCol w="4095750"/>
                <a:gridCol w="4352925"/>
              </a:tblGrid>
              <a:tr h="733425">
                <a:tc>
                  <a:txBody>
                    <a:bodyPr/>
                    <a:lstStyle/>
                    <a:p>
                      <a:r>
                        <a:rPr sz="1650" b="1">
                          <a:solidFill>
                            <a:srgbClr val="FFFFFF"/>
                          </a:solidFill>
                          <a:latin typeface="Arial"/>
                          <a:ea typeface="Arial"/>
                          <a:cs typeface="Arial"/>
                        </a:rPr>
                        <a:t>Area</a:t>
                      </a:r>
                    </a:p>
                  </a:txBody>
                  <a:tcPr marL="91440" marR="91440" marT="45720" marB="45720">
                    <a:lnL w="6668">
                      <a:solidFill>
                        <a:srgbClr val="D4DAD9"/>
                      </a:solidFill>
                      <a:prstDash val="solid"/>
                    </a:lnL>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Current code</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Remaining work</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r>
              <a:tr h="733425">
                <a:tc>
                  <a:txBody>
                    <a:bodyPr/>
                    <a:lstStyle/>
                    <a:p>
                      <a:r>
                        <a:rPr sz="1725" b="0">
                          <a:solidFill>
                            <a:srgbClr val="162638"/>
                          </a:solidFill>
                          <a:latin typeface="Arial"/>
                          <a:ea typeface="Arial"/>
                          <a:cs typeface="Arial"/>
                        </a:rPr>
                        <a:t>Matching and receiving</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Core engine and API flows</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Tax, credits and edge cases</a:t>
                      </a:r>
                    </a:p>
                  </a:txBody>
                  <a:tcPr marL="91440" marR="91440" marT="45720" marB="45720">
                    <a:lnR w="6668">
                      <a:solidFill>
                        <a:srgbClr val="D4DAD9"/>
                      </a:solidFill>
                      <a:prstDash val="solid"/>
                    </a:lnR>
                    <a:lnB w="6668">
                      <a:solidFill>
                        <a:srgbClr val="D4DAD9"/>
                      </a:solidFill>
                      <a:prstDash val="solid"/>
                    </a:lnB>
                    <a:solidFill>
                      <a:srgbClr val="FFFFFF"/>
                    </a:solidFill>
                  </a:tcPr>
                </a:tc>
              </a:tr>
              <a:tr h="733425">
                <a:tc>
                  <a:txBody>
                    <a:bodyPr/>
                    <a:lstStyle/>
                    <a:p>
                      <a:r>
                        <a:rPr sz="1725" b="0">
                          <a:solidFill>
                            <a:srgbClr val="162638"/>
                          </a:solidFill>
                          <a:latin typeface="Arial"/>
                          <a:ea typeface="Arial"/>
                          <a:cs typeface="Arial"/>
                        </a:rPr>
                        <a:t>Document processing</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Simulated extraction and review UI</a:t>
                      </a:r>
                    </a:p>
                  </a:txBody>
                  <a:tcPr marL="91440" marR="91440" marT="45720" marB="45720">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File storage, extraction, save edits</a:t>
                      </a:r>
                    </a:p>
                  </a:txBody>
                  <a:tcPr marL="91440" marR="91440" marT="45720" marB="45720">
                    <a:lnR w="6668">
                      <a:solidFill>
                        <a:srgbClr val="D4DAD9"/>
                      </a:solidFill>
                      <a:prstDash val="solid"/>
                    </a:lnR>
                    <a:lnB w="6668">
                      <a:solidFill>
                        <a:srgbClr val="D4DAD9"/>
                      </a:solidFill>
                      <a:prstDash val="solid"/>
                    </a:lnB>
                    <a:solidFill>
                      <a:srgbClr val="EAEFEA"/>
                    </a:solidFill>
                  </a:tcPr>
                </a:tc>
              </a:tr>
              <a:tr h="733425">
                <a:tc>
                  <a:txBody>
                    <a:bodyPr/>
                    <a:lstStyle/>
                    <a:p>
                      <a:r>
                        <a:rPr sz="1725" b="0">
                          <a:solidFill>
                            <a:srgbClr val="162638"/>
                          </a:solidFill>
                          <a:latin typeface="Arial"/>
                          <a:ea typeface="Arial"/>
                          <a:cs typeface="Arial"/>
                        </a:rPr>
                        <a:t>Analytics and vendors</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Demo KPIs and stored scores</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Verified formulas and score updates</a:t>
                      </a:r>
                    </a:p>
                  </a:txBody>
                  <a:tcPr marL="91440" marR="91440" marT="45720" marB="45720">
                    <a:lnR w="6668">
                      <a:solidFill>
                        <a:srgbClr val="D4DAD9"/>
                      </a:solidFill>
                      <a:prstDash val="solid"/>
                    </a:lnR>
                    <a:lnB w="6668">
                      <a:solidFill>
                        <a:srgbClr val="D4DAD9"/>
                      </a:solidFill>
                      <a:prstDash val="solid"/>
                    </a:lnB>
                    <a:solidFill>
                      <a:srgbClr val="FFFFFF"/>
                    </a:solidFill>
                  </a:tcPr>
                </a:tc>
              </a:tr>
              <a:tr h="733425">
                <a:tc>
                  <a:txBody>
                    <a:bodyPr/>
                    <a:lstStyle/>
                    <a:p>
                      <a:r>
                        <a:rPr sz="1725" b="0">
                          <a:solidFill>
                            <a:srgbClr val="162638"/>
                          </a:solidFill>
                          <a:latin typeface="Arial"/>
                          <a:ea typeface="Arial"/>
                          <a:cs typeface="Arial"/>
                        </a:rPr>
                        <a:t>SaaS and integrations</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CSV outputs and tenant fields</a:t>
                      </a:r>
                    </a:p>
                  </a:txBody>
                  <a:tcPr marL="91440" marR="91440" marT="45720" marB="45720">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Billing, permissions and live sync</a:t>
                      </a:r>
                    </a:p>
                  </a:txBody>
                  <a:tcPr marL="91440" marR="91440" marT="45720" marB="45720">
                    <a:lnR w="6668">
                      <a:solidFill>
                        <a:srgbClr val="D4DAD9"/>
                      </a:solidFill>
                      <a:prstDash val="solid"/>
                    </a:lnR>
                    <a:lnB w="6668">
                      <a:solidFill>
                        <a:srgbClr val="D4DAD9"/>
                      </a:solidFill>
                      <a:prstDash val="solid"/>
                    </a:lnB>
                    <a:solidFill>
                      <a:srgbClr val="EAEFEA"/>
                    </a:solidFill>
                  </a:tcPr>
                </a:tc>
              </a:tr>
            </a:tbl>
          </a:graphicData>
        </a:graphic>
      </p:graphicFrame>
    </p:spTree>
    <p:extLst>
      <p:ext uri="{BB962C8B-B14F-4D97-AF65-F5344CB8AC3E}">
        <p14:creationId xmlns:p14="http://schemas.microsoft.com/office/powerpoint/2010/main" val="2138761790"/>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EC1212-6543-4636-856C-C46600D9903E}"/>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09  QUALITY AND RELEASE RISKS</a:t>
            </a:r>
          </a:p>
        </p:txBody>
      </p:sp>
      <p:sp>
        <p:nvSpPr>
          <p:cNvPr id="2" name="">
            <a:extLst xmlns:a="http://schemas.openxmlformats.org/drawingml/2006/main">
              <a:ext uri="{FF2B5EF4-FFF2-40B4-BE49-F238E27FC236}">
                <a16:creationId xmlns:a16="http://schemas.microsoft.com/office/drawing/2014/main" id="{BA18BA24-F990-4EFF-A9B5-9C08FC1F859E}"/>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Eight tests pass, but critical gaps remain</a:t>
            </a:r>
          </a:p>
        </p:txBody>
      </p:sp>
      <p:sp>
        <p:nvSpPr>
          <p:cNvPr id="3" name="">
            <a:extLst xmlns:a="http://schemas.openxmlformats.org/drawingml/2006/main">
              <a:ext uri="{FF2B5EF4-FFF2-40B4-BE49-F238E27FC236}">
                <a16:creationId xmlns:a16="http://schemas.microsoft.com/office/drawing/2014/main" id="{F883A8F6-A99E-4722-BE28-5D36FF2BAC2C}"/>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69DB79FA-D5CE-4D17-9062-A7B7C6493E99}"/>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10 / 12</a:t>
            </a:r>
          </a:p>
        </p:txBody>
      </p:sp>
      <p:sp>
        <p:nvSpPr>
          <p:cNvPr id="5" name="">
            <a:extLst xmlns:a="http://schemas.openxmlformats.org/drawingml/2006/main">
              <a:ext uri="{FF2B5EF4-FFF2-40B4-BE49-F238E27FC236}">
                <a16:creationId xmlns:a16="http://schemas.microsoft.com/office/drawing/2014/main" id="{B694AD49-66A3-43A2-8282-3BEB5C85B452}"/>
              </a:ext>
            </a:extLst>
          </p:cNvPr>
          <p:cNvSpPr>
            <a:spLocks xmlns:a="http://schemas.openxmlformats.org/drawingml/2006/main" noGrp="1"/>
          </p:cNvSpPr>
          <p:nvPr/>
        </p:nvSpPr>
        <p:spPr>
          <a:xfrm xmlns:a="http://schemas.openxmlformats.org/drawingml/2006/main">
            <a:off x="609600" y="20383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087E83"/>
                </a:solidFill>
                <a:latin typeface="Arial"/>
                <a:ea typeface="Arial"/>
                <a:cs typeface="Arial"/>
              </a:defRPr>
            </a:defPPr>
          </a:lstStyle>
          <a:p xmlns:a="http://schemas.openxmlformats.org/drawingml/2006/main">
            <a:pPr>
              <a:defRPr sz="6000" b="1">
                <a:solidFill>
                  <a:srgbClr val="087E83"/>
                </a:solidFill>
                <a:latin typeface="Arial"/>
                <a:ea typeface="Arial"/>
                <a:cs typeface="Arial"/>
              </a:defRPr>
            </a:pPr>
            <a:r>
              <a:rPr sz="6000" b="1">
                <a:solidFill>
                  <a:srgbClr val="087E83"/>
                </a:solidFill>
                <a:latin typeface="Arial"/>
                <a:ea typeface="Arial"/>
                <a:cs typeface="Arial"/>
              </a:rPr>
              <a:t>8 / 8</a:t>
            </a:r>
          </a:p>
        </p:txBody>
      </p:sp>
      <p:sp>
        <p:nvSpPr>
          <p:cNvPr id="6" name="">
            <a:extLst xmlns:a="http://schemas.openxmlformats.org/drawingml/2006/main">
              <a:ext uri="{FF2B5EF4-FFF2-40B4-BE49-F238E27FC236}">
                <a16:creationId xmlns:a16="http://schemas.microsoft.com/office/drawing/2014/main" id="{2A3E3244-7FB6-4232-AA22-FAC2EE3E3571}"/>
              </a:ext>
            </a:extLst>
          </p:cNvPr>
          <p:cNvSpPr>
            <a:spLocks xmlns:a="http://schemas.openxmlformats.org/drawingml/2006/main" noGrp="1"/>
          </p:cNvSpPr>
          <p:nvPr/>
        </p:nvSpPr>
        <p:spPr>
          <a:xfrm xmlns:a="http://schemas.openxmlformats.org/drawingml/2006/main">
            <a:off x="609600" y="31813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2638"/>
                </a:solidFill>
                <a:latin typeface="Arial"/>
                <a:ea typeface="Arial"/>
                <a:cs typeface="Arial"/>
              </a:defRPr>
            </a:defPPr>
          </a:lstStyle>
          <a:p xmlns:a="http://schemas.openxmlformats.org/drawingml/2006/main">
            <a:pPr>
              <a:defRPr sz="2100" b="1">
                <a:solidFill>
                  <a:srgbClr val="162638"/>
                </a:solidFill>
                <a:latin typeface="Arial"/>
                <a:ea typeface="Arial"/>
                <a:cs typeface="Arial"/>
              </a:defRPr>
            </a:pPr>
            <a:r>
              <a:rPr sz="2100" b="1">
                <a:solidFill>
                  <a:srgbClr val="162638"/>
                </a:solidFill>
                <a:latin typeface="Arial"/>
                <a:ea typeface="Arial"/>
                <a:cs typeface="Arial"/>
              </a:rPr>
              <a:t>existing Node tests passed</a:t>
            </a:r>
          </a:p>
        </p:txBody>
      </p:sp>
      <p:sp>
        <p:nvSpPr>
          <p:cNvPr id="7" name="">
            <a:extLst xmlns:a="http://schemas.openxmlformats.org/drawingml/2006/main">
              <a:ext uri="{FF2B5EF4-FFF2-40B4-BE49-F238E27FC236}">
                <a16:creationId xmlns:a16="http://schemas.microsoft.com/office/drawing/2014/main" id="{0D15C805-F2C2-4C8A-88D2-8BE22EAD5217}"/>
              </a:ext>
            </a:extLst>
          </p:cNvPr>
          <p:cNvSpPr>
            <a:spLocks xmlns:a="http://schemas.openxmlformats.org/drawingml/2006/main" noGrp="1"/>
          </p:cNvSpPr>
          <p:nvPr/>
        </p:nvSpPr>
        <p:spPr>
          <a:xfrm xmlns:a="http://schemas.openxmlformats.org/drawingml/2006/main">
            <a:off x="609600" y="4314825"/>
            <a:ext cx="276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273"/>
                </a:solidFill>
                <a:latin typeface="Arial"/>
                <a:ea typeface="Arial"/>
                <a:cs typeface="Arial"/>
              </a:defRPr>
            </a:defPPr>
          </a:lstStyle>
          <a:p xmlns:a="http://schemas.openxmlformats.org/drawingml/2006/main">
            <a:pPr>
              <a:defRPr sz="1800" b="0">
                <a:solidFill>
                  <a:srgbClr val="546273"/>
                </a:solidFill>
                <a:latin typeface="Arial"/>
                <a:ea typeface="Arial"/>
                <a:cs typeface="Arial"/>
              </a:defRPr>
            </a:pPr>
            <a:r>
              <a:rPr sz="1800" b="0">
                <a:solidFill>
                  <a:srgbClr val="546273"/>
                </a:solidFill>
                <a:latin typeface="Arial"/>
                <a:ea typeface="Arial"/>
                <a:cs typeface="Arial"/>
              </a:rPr>
              <a:t>Unit tests cover selected matching scenarios, not production readiness.</a:t>
            </a:r>
          </a:p>
        </p:txBody>
      </p:sp>
      <p:sp>
        <p:nvSpPr>
          <p:cNvPr id="8" name="">
            <a:extLst xmlns:a="http://schemas.openxmlformats.org/drawingml/2006/main">
              <a:ext uri="{FF2B5EF4-FFF2-40B4-BE49-F238E27FC236}">
                <a16:creationId xmlns:a16="http://schemas.microsoft.com/office/drawing/2014/main" id="{2DD15120-DEFF-4E61-8720-8D8E8E7BDBF4}"/>
              </a:ext>
            </a:extLst>
          </p:cNvPr>
          <p:cNvSpPr>
            <a:spLocks xmlns:a="http://schemas.openxmlformats.org/drawingml/2006/main" noGrp="1"/>
          </p:cNvSpPr>
          <p:nvPr/>
        </p:nvSpPr>
        <p:spPr>
          <a:xfrm xmlns:a="http://schemas.openxmlformats.org/drawingml/2006/main">
            <a:off x="4000500" y="2095500"/>
            <a:ext cx="733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34235"/>
                </a:solidFill>
                <a:latin typeface="Arial"/>
                <a:ea typeface="Arial"/>
                <a:cs typeface="Arial"/>
              </a:defRPr>
            </a:defPPr>
          </a:lstStyle>
          <a:p xmlns:a="http://schemas.openxmlformats.org/drawingml/2006/main">
            <a:pPr>
              <a:defRPr sz="2175" b="1">
                <a:solidFill>
                  <a:srgbClr val="A34235"/>
                </a:solidFill>
                <a:latin typeface="Arial"/>
                <a:ea typeface="Arial"/>
                <a:cs typeface="Arial"/>
              </a:defRPr>
            </a:pPr>
            <a:r>
              <a:rPr sz="2175" b="1">
                <a:solidFill>
                  <a:srgbClr val="A34235"/>
                </a:solidFill>
                <a:latin typeface="Arial"/>
                <a:ea typeface="Arial"/>
                <a:cs typeface="Arial"/>
              </a:rPr>
              <a:t>Incorrect acceptance</a:t>
            </a:r>
          </a:p>
        </p:txBody>
      </p:sp>
      <p:sp>
        <p:nvSpPr>
          <p:cNvPr id="9" name="">
            <a:extLst xmlns:a="http://schemas.openxmlformats.org/drawingml/2006/main">
              <a:ext uri="{FF2B5EF4-FFF2-40B4-BE49-F238E27FC236}">
                <a16:creationId xmlns:a16="http://schemas.microsoft.com/office/drawing/2014/main" id="{A68EE3A1-61E3-4B18-9E9E-3482D39F8009}"/>
              </a:ext>
            </a:extLst>
          </p:cNvPr>
          <p:cNvSpPr>
            <a:spLocks xmlns:a="http://schemas.openxmlformats.org/drawingml/2006/main" noGrp="1"/>
          </p:cNvSpPr>
          <p:nvPr/>
        </p:nvSpPr>
        <p:spPr>
          <a:xfrm xmlns:a="http://schemas.openxmlformats.org/drawingml/2006/main">
            <a:off x="4000500" y="2571750"/>
            <a:ext cx="742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638"/>
                </a:solidFill>
                <a:latin typeface="Arial"/>
                <a:ea typeface="Arial"/>
                <a:cs typeface="Arial"/>
              </a:defRPr>
            </a:defPPr>
          </a:lstStyle>
          <a:p xmlns:a="http://schemas.openxmlformats.org/drawingml/2006/main">
            <a:pPr>
              <a:defRPr sz="2025" b="0">
                <a:solidFill>
                  <a:srgbClr val="162638"/>
                </a:solidFill>
                <a:latin typeface="Arial"/>
                <a:ea typeface="Arial"/>
                <a:cs typeface="Arial"/>
              </a:defRPr>
            </a:pPr>
            <a:r>
              <a:rPr sz="2025" b="0">
                <a:solidFill>
                  <a:srgbClr val="162638"/>
                </a:solidFill>
                <a:latin typeface="Arial"/>
                <a:ea typeface="Arial"/>
                <a:cs typeface="Arial"/>
              </a:rPr>
              <a:t>Empty invoices and repeated lines for one PO item can pass. Rejected quantities do not reduce billable stock.</a:t>
            </a:r>
          </a:p>
        </p:txBody>
      </p:sp>
      <p:sp>
        <p:nvSpPr>
          <p:cNvPr id="10" name="">
            <a:extLst xmlns:a="http://schemas.openxmlformats.org/drawingml/2006/main">
              <a:ext uri="{FF2B5EF4-FFF2-40B4-BE49-F238E27FC236}">
                <a16:creationId xmlns:a16="http://schemas.microsoft.com/office/drawing/2014/main" id="{A6372CD2-1BE0-443D-A4FA-C1D7168FCC96}"/>
              </a:ext>
            </a:extLst>
          </p:cNvPr>
          <p:cNvSpPr>
            <a:spLocks xmlns:a="http://schemas.openxmlformats.org/drawingml/2006/main" noGrp="1"/>
          </p:cNvSpPr>
          <p:nvPr/>
        </p:nvSpPr>
        <p:spPr>
          <a:xfrm xmlns:a="http://schemas.openxmlformats.org/drawingml/2006/main">
            <a:off x="4000500" y="387667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34235"/>
                </a:solidFill>
                <a:latin typeface="Arial"/>
                <a:ea typeface="Arial"/>
                <a:cs typeface="Arial"/>
              </a:defRPr>
            </a:defPPr>
          </a:lstStyle>
          <a:p xmlns:a="http://schemas.openxmlformats.org/drawingml/2006/main">
            <a:pPr>
              <a:defRPr sz="2175" b="1">
                <a:solidFill>
                  <a:srgbClr val="A34235"/>
                </a:solidFill>
                <a:latin typeface="Arial"/>
                <a:ea typeface="Arial"/>
                <a:cs typeface="Arial"/>
              </a:defRPr>
            </a:pPr>
            <a:r>
              <a:rPr sz="2175" b="1">
                <a:solidFill>
                  <a:srgbClr val="A34235"/>
                </a:solidFill>
                <a:latin typeface="Arial"/>
                <a:ea typeface="Arial"/>
                <a:cs typeface="Arial"/>
              </a:rPr>
              <a:t>Release blockers</a:t>
            </a:r>
          </a:p>
        </p:txBody>
      </p:sp>
      <p:sp>
        <p:nvSpPr>
          <p:cNvPr id="11" name="">
            <a:extLst xmlns:a="http://schemas.openxmlformats.org/drawingml/2006/main">
              <a:ext uri="{FF2B5EF4-FFF2-40B4-BE49-F238E27FC236}">
                <a16:creationId xmlns:a16="http://schemas.microsoft.com/office/drawing/2014/main" id="{31C9A95A-6C9D-46C6-8C42-7D8A6F28BFD0}"/>
              </a:ext>
            </a:extLst>
          </p:cNvPr>
          <p:cNvSpPr>
            <a:spLocks xmlns:a="http://schemas.openxmlformats.org/drawingml/2006/main" noGrp="1"/>
          </p:cNvSpPr>
          <p:nvPr/>
        </p:nvSpPr>
        <p:spPr>
          <a:xfrm xmlns:a="http://schemas.openxmlformats.org/drawingml/2006/main">
            <a:off x="4000500" y="4352925"/>
            <a:ext cx="742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638"/>
                </a:solidFill>
                <a:latin typeface="Arial"/>
                <a:ea typeface="Arial"/>
                <a:cs typeface="Arial"/>
              </a:defRPr>
            </a:defPPr>
          </a:lstStyle>
          <a:p xmlns:a="http://schemas.openxmlformats.org/drawingml/2006/main">
            <a:pPr>
              <a:defRPr sz="2025" b="0">
                <a:solidFill>
                  <a:srgbClr val="162638"/>
                </a:solidFill>
                <a:latin typeface="Arial"/>
                <a:ea typeface="Arial"/>
                <a:cs typeface="Arial"/>
              </a:defRPr>
            </a:pPr>
            <a:r>
              <a:rPr sz="2025" b="0">
                <a:solidFill>
                  <a:srgbClr val="162638"/>
                </a:solidFill>
                <a:latin typeface="Arial"/>
                <a:ea typeface="Arial"/>
                <a:cs typeface="Arial"/>
              </a:rPr>
              <a:t>Password validation, route authorization and tenant isolation are missing. Match history and concurrent updates need protection.</a:t>
            </a:r>
          </a:p>
        </p:txBody>
      </p:sp>
    </p:spTree>
    <p:extLst>
      <p:ext uri="{BB962C8B-B14F-4D97-AF65-F5344CB8AC3E}">
        <p14:creationId xmlns:p14="http://schemas.microsoft.com/office/powerpoint/2010/main" val="175315920"/>
      </p:ext>
    </p:extLst>
  </p:cSld>
</p:sld>
</file>

<file path=ppt/slides/slide1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B97C57-D440-470E-8E34-728ED5CF2BE2}"/>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Arial"/>
                <a:ea typeface="Arial"/>
                <a:cs typeface="Arial"/>
              </a:defRPr>
            </a:defPPr>
          </a:lstStyle>
          <a:p xmlns:a="http://schemas.openxmlformats.org/drawingml/2006/main">
            <a:pPr>
              <a:defRPr sz="1125" b="1">
                <a:solidFill>
                  <a:srgbClr val="087E83"/>
                </a:solidFill>
                <a:latin typeface="Arial"/>
                <a:ea typeface="Arial"/>
                <a:cs typeface="Arial"/>
              </a:defRPr>
            </a:pPr>
            <a:r>
              <a:rPr sz="1125" b="1">
                <a:solidFill>
                  <a:srgbClr val="087E83"/>
                </a:solidFill>
                <a:latin typeface="Arial"/>
                <a:ea typeface="Arial"/>
                <a:cs typeface="Arial"/>
              </a:rPr>
              <a:t>10  COMMERCIAL PLAN</a:t>
            </a:r>
          </a:p>
        </p:txBody>
      </p:sp>
      <p:sp>
        <p:nvSpPr>
          <p:cNvPr id="2" name="">
            <a:extLst xmlns:a="http://schemas.openxmlformats.org/drawingml/2006/main">
              <a:ext uri="{FF2B5EF4-FFF2-40B4-BE49-F238E27FC236}">
                <a16:creationId xmlns:a16="http://schemas.microsoft.com/office/drawing/2014/main" id="{93CAEB0B-C0C3-4730-AFB2-F8FCC1A266FE}"/>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638"/>
                </a:solidFill>
                <a:latin typeface="Arial"/>
                <a:ea typeface="Arial"/>
                <a:cs typeface="Arial"/>
              </a:defRPr>
            </a:defPPr>
          </a:lstStyle>
          <a:p xmlns:a="http://schemas.openxmlformats.org/drawingml/2006/main">
            <a:pPr>
              <a:defRPr sz="3300" b="1">
                <a:solidFill>
                  <a:srgbClr val="162638"/>
                </a:solidFill>
                <a:latin typeface="Arial"/>
                <a:ea typeface="Arial"/>
                <a:cs typeface="Arial"/>
              </a:defRPr>
            </a:pPr>
            <a:r>
              <a:rPr sz="3300" b="1">
                <a:solidFill>
                  <a:srgbClr val="162638"/>
                </a:solidFill>
                <a:latin typeface="Arial"/>
                <a:ea typeface="Arial"/>
                <a:cs typeface="Arial"/>
              </a:rPr>
              <a:t>Pricing and success measures are proposals</a:t>
            </a:r>
          </a:p>
        </p:txBody>
      </p:sp>
      <p:sp>
        <p:nvSpPr>
          <p:cNvPr id="3" name="">
            <a:extLst xmlns:a="http://schemas.openxmlformats.org/drawingml/2006/main">
              <a:ext uri="{FF2B5EF4-FFF2-40B4-BE49-F238E27FC236}">
                <a16:creationId xmlns:a16="http://schemas.microsoft.com/office/drawing/2014/main" id="{8A42A1E6-1276-448E-9E35-A6EC717D0DD0}"/>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76EE6F1E-DBAE-49B2-91F4-8052B5D4D805}"/>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46273"/>
                </a:solidFill>
                <a:latin typeface="Arial"/>
                <a:ea typeface="Arial"/>
                <a:cs typeface="Arial"/>
              </a:defRPr>
            </a:defPPr>
          </a:lstStyle>
          <a:p xmlns:a="http://schemas.openxmlformats.org/drawingml/2006/main">
            <a:pPr>
              <a:defRPr sz="975" b="0">
                <a:solidFill>
                  <a:srgbClr val="546273"/>
                </a:solidFill>
                <a:latin typeface="Arial"/>
                <a:ea typeface="Arial"/>
                <a:cs typeface="Arial"/>
              </a:defRPr>
            </a:pPr>
            <a:r>
              <a:rPr sz="975" b="0">
                <a:solidFill>
                  <a:srgbClr val="546273"/>
                </a:solidFill>
                <a:latin typeface="Arial"/>
                <a:ea typeface="Arial"/>
                <a:cs typeface="Arial"/>
              </a:rPr>
              <a:t>11 / 12</a:t>
            </a:r>
          </a:p>
        </p:txBody>
      </p:sp>
      <p:graphicFrame>
        <p:nvGraphicFramePr>
          <p:cNvPr id="5" name="">
            <a:extLst xmlns:a="http://schemas.openxmlformats.org/drawingml/2006/main">
              <a:ext uri="{FF2B5EF4-FFF2-40B4-BE49-F238E27FC236}">
                <a16:creationId xmlns:a16="http://schemas.microsoft.com/office/drawing/2014/main" id="{6B2276B6-1876-4FED-972A-4FC5A989D7B7}"/>
              </a:ext>
            </a:extLst>
          </p:cNvPr>
          <p:cNvGraphicFramePr/>
          <p:nvPr/>
        </p:nvGraphicFramePr>
        <p:xfrm>
          <a:off xmlns:a="http://schemas.openxmlformats.org/drawingml/2006/main" x="609600" y="2143125"/>
          <a:ext xmlns:a="http://schemas.openxmlformats.org/drawingml/2006/main" cx="10972800" cy="2571750"/>
        </p:xfrm>
        <a:graphic xmlns:a="http://schemas.openxmlformats.org/drawingml/2006/main">
          <a:graphicData uri="http://schemas.openxmlformats.org/drawingml/2006/table">
            <a:tbl>
              <a:tblPr/>
              <a:tblGrid>
                <a:gridCol w="3333750"/>
                <a:gridCol w="3333750"/>
                <a:gridCol w="4305300"/>
              </a:tblGrid>
              <a:tr h="642938">
                <a:tc>
                  <a:txBody>
                    <a:bodyPr/>
                    <a:lstStyle/>
                    <a:p>
                      <a:r>
                        <a:rPr sz="1650" b="1">
                          <a:solidFill>
                            <a:srgbClr val="FFFFFF"/>
                          </a:solidFill>
                          <a:latin typeface="Arial"/>
                          <a:ea typeface="Arial"/>
                          <a:cs typeface="Arial"/>
                        </a:rPr>
                        <a:t>Proposed plan</a:t>
                      </a:r>
                    </a:p>
                  </a:txBody>
                  <a:tcPr marL="91440" marR="91440" marT="45720" marB="45720">
                    <a:lnL w="6668">
                      <a:solidFill>
                        <a:srgbClr val="D4DAD9"/>
                      </a:solidFill>
                      <a:prstDash val="solid"/>
                    </a:lnL>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Monthly price</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c>
                  <a:txBody>
                    <a:bodyPr/>
                    <a:lstStyle/>
                    <a:p>
                      <a:r>
                        <a:rPr sz="1650" b="1">
                          <a:solidFill>
                            <a:srgbClr val="FFFFFF"/>
                          </a:solidFill>
                          <a:latin typeface="Arial"/>
                          <a:ea typeface="Arial"/>
                          <a:cs typeface="Arial"/>
                        </a:rPr>
                        <a:t>Invoice allowance</a:t>
                      </a:r>
                    </a:p>
                  </a:txBody>
                  <a:tcPr marL="91440" marR="91440" marT="45720" marB="45720">
                    <a:lnR w="6668">
                      <a:solidFill>
                        <a:srgbClr val="D4DAD9"/>
                      </a:solidFill>
                      <a:prstDash val="solid"/>
                    </a:lnR>
                    <a:lnT w="6668">
                      <a:solidFill>
                        <a:srgbClr val="D4DAD9"/>
                      </a:solidFill>
                      <a:prstDash val="solid"/>
                    </a:lnT>
                    <a:lnB w="6668">
                      <a:solidFill>
                        <a:srgbClr val="D4DAD9"/>
                      </a:solidFill>
                      <a:prstDash val="solid"/>
                    </a:lnB>
                    <a:solidFill>
                      <a:srgbClr val="101F31"/>
                    </a:solidFill>
                  </a:tcPr>
                </a:tc>
              </a:tr>
              <a:tr h="642938">
                <a:tc>
                  <a:txBody>
                    <a:bodyPr/>
                    <a:lstStyle/>
                    <a:p>
                      <a:r>
                        <a:rPr sz="1725" b="0">
                          <a:solidFill>
                            <a:srgbClr val="162638"/>
                          </a:solidFill>
                          <a:latin typeface="Arial"/>
                          <a:ea typeface="Arial"/>
                          <a:cs typeface="Arial"/>
                        </a:rPr>
                        <a:t>Starter</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$49</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150 per month</a:t>
                      </a:r>
                    </a:p>
                  </a:txBody>
                  <a:tcPr marL="91440" marR="91440" marT="45720" marB="45720">
                    <a:lnR w="6668">
                      <a:solidFill>
                        <a:srgbClr val="D4DAD9"/>
                      </a:solidFill>
                      <a:prstDash val="solid"/>
                    </a:lnR>
                    <a:lnB w="6668">
                      <a:solidFill>
                        <a:srgbClr val="D4DAD9"/>
                      </a:solidFill>
                      <a:prstDash val="solid"/>
                    </a:lnB>
                    <a:solidFill>
                      <a:srgbClr val="FFFFFF"/>
                    </a:solidFill>
                  </a:tcPr>
                </a:tc>
              </a:tr>
              <a:tr h="642938">
                <a:tc>
                  <a:txBody>
                    <a:bodyPr/>
                    <a:lstStyle/>
                    <a:p>
                      <a:r>
                        <a:rPr sz="1725" b="0">
                          <a:solidFill>
                            <a:srgbClr val="162638"/>
                          </a:solidFill>
                          <a:latin typeface="Arial"/>
                          <a:ea typeface="Arial"/>
                          <a:cs typeface="Arial"/>
                        </a:rPr>
                        <a:t>Growth</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$199</a:t>
                      </a:r>
                    </a:p>
                  </a:txBody>
                  <a:tcPr marL="91440" marR="91440" marT="45720" marB="45720">
                    <a:lnR w="6668">
                      <a:solidFill>
                        <a:srgbClr val="D4DAD9"/>
                      </a:solidFill>
                      <a:prstDash val="solid"/>
                    </a:lnR>
                    <a:lnB w="6668">
                      <a:solidFill>
                        <a:srgbClr val="D4DAD9"/>
                      </a:solidFill>
                      <a:prstDash val="solid"/>
                    </a:lnB>
                    <a:solidFill>
                      <a:srgbClr val="EAEFEA"/>
                    </a:solidFill>
                  </a:tcPr>
                </a:tc>
                <a:tc>
                  <a:txBody>
                    <a:bodyPr/>
                    <a:lstStyle/>
                    <a:p>
                      <a:r>
                        <a:rPr sz="1725" b="0">
                          <a:solidFill>
                            <a:srgbClr val="162638"/>
                          </a:solidFill>
                          <a:latin typeface="Arial"/>
                          <a:ea typeface="Arial"/>
                          <a:cs typeface="Arial"/>
                        </a:rPr>
                        <a:t>1,200 per month</a:t>
                      </a:r>
                    </a:p>
                  </a:txBody>
                  <a:tcPr marL="91440" marR="91440" marT="45720" marB="45720">
                    <a:lnR w="6668">
                      <a:solidFill>
                        <a:srgbClr val="D4DAD9"/>
                      </a:solidFill>
                      <a:prstDash val="solid"/>
                    </a:lnR>
                    <a:lnB w="6668">
                      <a:solidFill>
                        <a:srgbClr val="D4DAD9"/>
                      </a:solidFill>
                      <a:prstDash val="solid"/>
                    </a:lnB>
                    <a:solidFill>
                      <a:srgbClr val="EAEFEA"/>
                    </a:solidFill>
                  </a:tcPr>
                </a:tc>
              </a:tr>
              <a:tr h="642938">
                <a:tc>
                  <a:txBody>
                    <a:bodyPr/>
                    <a:lstStyle/>
                    <a:p>
                      <a:r>
                        <a:rPr sz="1725" b="0">
                          <a:solidFill>
                            <a:srgbClr val="162638"/>
                          </a:solidFill>
                          <a:latin typeface="Arial"/>
                          <a:ea typeface="Arial"/>
                          <a:cs typeface="Arial"/>
                        </a:rPr>
                        <a:t>Scale</a:t>
                      </a:r>
                    </a:p>
                  </a:txBody>
                  <a:tcPr marL="91440" marR="91440" marT="45720" marB="45720">
                    <a:lnL w="6668">
                      <a:solidFill>
                        <a:srgbClr val="D4DAD9"/>
                      </a:solidFill>
                      <a:prstDash val="solid"/>
                    </a:lnL>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$499</a:t>
                      </a:r>
                    </a:p>
                  </a:txBody>
                  <a:tcPr marL="91440" marR="91440" marT="45720" marB="45720">
                    <a:lnR w="6668">
                      <a:solidFill>
                        <a:srgbClr val="D4DAD9"/>
                      </a:solidFill>
                      <a:prstDash val="solid"/>
                    </a:lnR>
                    <a:lnB w="6668">
                      <a:solidFill>
                        <a:srgbClr val="D4DAD9"/>
                      </a:solidFill>
                      <a:prstDash val="solid"/>
                    </a:lnB>
                    <a:solidFill>
                      <a:srgbClr val="FFFFFF"/>
                    </a:solidFill>
                  </a:tcPr>
                </a:tc>
                <a:tc>
                  <a:txBody>
                    <a:bodyPr/>
                    <a:lstStyle/>
                    <a:p>
                      <a:r>
                        <a:rPr sz="1725" b="0">
                          <a:solidFill>
                            <a:srgbClr val="162638"/>
                          </a:solidFill>
                          <a:latin typeface="Arial"/>
                          <a:ea typeface="Arial"/>
                          <a:cs typeface="Arial"/>
                        </a:rPr>
                        <a:t>4,500 per month</a:t>
                      </a:r>
                    </a:p>
                  </a:txBody>
                  <a:tcPr marL="91440" marR="91440" marT="45720" marB="45720">
                    <a:lnR w="6668">
                      <a:solidFill>
                        <a:srgbClr val="D4DAD9"/>
                      </a:solidFill>
                      <a:prstDash val="solid"/>
                    </a:lnR>
                    <a:lnB w="6668">
                      <a:solidFill>
                        <a:srgbClr val="D4DAD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5C921CF-D6B0-40B8-A0EA-9D513C524CF6}"/>
              </a:ext>
            </a:extLst>
          </p:cNvPr>
          <p:cNvSpPr>
            <a:spLocks xmlns:a="http://schemas.openxmlformats.org/drawingml/2006/main" noGrp="1"/>
          </p:cNvSpPr>
          <p:nvPr/>
        </p:nvSpPr>
        <p:spPr>
          <a:xfrm xmlns:a="http://schemas.openxmlformats.org/drawingml/2006/main">
            <a:off x="609600" y="51244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3"/>
                </a:solidFill>
                <a:latin typeface="Arial"/>
                <a:ea typeface="Arial"/>
                <a:cs typeface="Arial"/>
              </a:defRPr>
            </a:def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Pilot targets</a:t>
            </a:r>
          </a:p>
        </p:txBody>
      </p:sp>
      <p:sp>
        <p:nvSpPr>
          <p:cNvPr id="7" name="">
            <a:extLst xmlns:a="http://schemas.openxmlformats.org/drawingml/2006/main">
              <a:ext uri="{FF2B5EF4-FFF2-40B4-BE49-F238E27FC236}">
                <a16:creationId xmlns:a16="http://schemas.microsoft.com/office/drawing/2014/main" id="{180C10B4-880E-4843-8CAC-043AEA090BDF}"/>
              </a:ext>
            </a:extLst>
          </p:cNvPr>
          <p:cNvSpPr>
            <a:spLocks xmlns:a="http://schemas.openxmlformats.org/drawingml/2006/main" noGrp="1"/>
          </p:cNvSpPr>
          <p:nvPr/>
        </p:nvSpPr>
        <p:spPr>
          <a:xfrm xmlns:a="http://schemas.openxmlformats.org/drawingml/2006/main">
            <a:off x="3714750" y="5124450"/>
            <a:ext cx="762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638"/>
                </a:solidFill>
                <a:latin typeface="Arial"/>
                <a:ea typeface="Arial"/>
                <a:cs typeface="Arial"/>
              </a:defRPr>
            </a:defPPr>
          </a:lstStyle>
          <a:p xmlns:a="http://schemas.openxmlformats.org/drawingml/2006/main">
            <a:pPr>
              <a:defRPr sz="2025" b="0">
                <a:solidFill>
                  <a:srgbClr val="162638"/>
                </a:solidFill>
                <a:latin typeface="Arial"/>
                <a:ea typeface="Arial"/>
                <a:cs typeface="Arial"/>
              </a:defRPr>
            </a:pPr>
            <a:r>
              <a:rPr sz="2025" b="0">
                <a:solidFill>
                  <a:srgbClr val="162638"/>
                </a:solidFill>
                <a:latin typeface="Arial"/>
                <a:ea typeface="Arial"/>
                <a:cs typeface="Arial"/>
              </a:rPr>
              <a:t>At least 75% automatic processing of clean invoices and average processing below 90 seconds.</a:t>
            </a:r>
          </a:p>
        </p:txBody>
      </p:sp>
    </p:spTree>
    <p:extLst>
      <p:ext uri="{BB962C8B-B14F-4D97-AF65-F5344CB8AC3E}">
        <p14:creationId xmlns:p14="http://schemas.microsoft.com/office/powerpoint/2010/main" val="1828215347"/>
      </p:ext>
    </p:extLst>
  </p:cSld>
</p:sld>
</file>

<file path=ppt/slides/slide12.xml><?xml version="1.0" encoding="utf-8"?>
<p:sld xmlns:p="http://schemas.openxmlformats.org/presentationml/2006/main">
  <p:cSld>
    <p:bg>
      <p:bgPr>
        <a:solidFill xmlns:a="http://schemas.openxmlformats.org/drawingml/2006/main">
          <a:srgbClr val="101F3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2D87CD-DA14-47BD-8BA0-22E88D92A218}"/>
              </a:ext>
            </a:extLst>
          </p:cNvPr>
          <p:cNvSpPr>
            <a:spLocks xmlns:a="http://schemas.openxmlformats.org/drawingml/2006/main" noGrp="1"/>
          </p:cNvSpPr>
          <p:nvPr/>
        </p:nvSpPr>
        <p:spPr>
          <a:xfrm xmlns:a="http://schemas.openxmlformats.org/drawingml/2006/main">
            <a:off x="609600" y="361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7DE0CC"/>
                </a:solidFill>
                <a:latin typeface="Arial"/>
                <a:ea typeface="Arial"/>
                <a:cs typeface="Arial"/>
              </a:defRPr>
            </a:defPPr>
          </a:lstStyle>
          <a:p xmlns:a="http://schemas.openxmlformats.org/drawingml/2006/main">
            <a:pPr>
              <a:defRPr sz="1125" b="1">
                <a:solidFill>
                  <a:srgbClr val="7DE0CC"/>
                </a:solidFill>
                <a:latin typeface="Arial"/>
                <a:ea typeface="Arial"/>
                <a:cs typeface="Arial"/>
              </a:defRPr>
            </a:pPr>
            <a:r>
              <a:rPr sz="1125" b="1">
                <a:solidFill>
                  <a:srgbClr val="7DE0CC"/>
                </a:solidFill>
                <a:latin typeface="Arial"/>
                <a:ea typeface="Arial"/>
                <a:cs typeface="Arial"/>
              </a:rPr>
              <a:t>11  RECOMMENDED NEXT STEPS</a:t>
            </a:r>
          </a:p>
        </p:txBody>
      </p:sp>
      <p:sp>
        <p:nvSpPr>
          <p:cNvPr id="2" name="">
            <a:extLst xmlns:a="http://schemas.openxmlformats.org/drawingml/2006/main">
              <a:ext uri="{FF2B5EF4-FFF2-40B4-BE49-F238E27FC236}">
                <a16:creationId xmlns:a16="http://schemas.microsoft.com/office/drawing/2014/main" id="{4236DBF8-0901-43DD-ACB6-D873776DBD0E}"/>
              </a:ext>
            </a:extLst>
          </p:cNvPr>
          <p:cNvSpPr>
            <a:spLocks xmlns:a="http://schemas.openxmlformats.org/drawingml/2006/main" noGrp="1"/>
          </p:cNvSpPr>
          <p:nvPr/>
        </p:nvSpPr>
        <p:spPr>
          <a:xfrm xmlns:a="http://schemas.openxmlformats.org/drawingml/2006/main">
            <a:off x="609600" y="8763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 staged path to a controlled pilot</a:t>
            </a:r>
          </a:p>
        </p:txBody>
      </p:sp>
      <p:sp>
        <p:nvSpPr>
          <p:cNvPr id="3" name="">
            <a:extLst xmlns:a="http://schemas.openxmlformats.org/drawingml/2006/main">
              <a:ext uri="{FF2B5EF4-FFF2-40B4-BE49-F238E27FC236}">
                <a16:creationId xmlns:a16="http://schemas.microsoft.com/office/drawing/2014/main" id="{61A326A6-A692-4A7B-935C-18586239F8C5}"/>
              </a:ext>
            </a:extLst>
          </p:cNvPr>
          <p:cNvSpPr>
            <a:spLocks xmlns:a="http://schemas.openxmlformats.org/drawingml/2006/main" noGrp="1"/>
          </p:cNvSpPr>
          <p:nvPr/>
        </p:nvSpPr>
        <p:spPr>
          <a:xfrm xmlns:a="http://schemas.openxmlformats.org/drawingml/2006/main">
            <a:off x="609600" y="64103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AB9C7"/>
                </a:solidFill>
                <a:latin typeface="Arial"/>
                <a:ea typeface="Arial"/>
                <a:cs typeface="Arial"/>
              </a:defRPr>
            </a:defPPr>
          </a:lstStyle>
          <a:p xmlns:a="http://schemas.openxmlformats.org/drawingml/2006/main">
            <a:pPr>
              <a:defRPr sz="975" b="0">
                <a:solidFill>
                  <a:srgbClr val="AAB9C7"/>
                </a:solidFill>
                <a:latin typeface="Arial"/>
                <a:ea typeface="Arial"/>
                <a:cs typeface="Arial"/>
              </a:defRPr>
            </a:pPr>
            <a:r>
              <a:rPr sz="975" b="0">
                <a:solidFill>
                  <a:srgbClr val="AAB9C7"/>
                </a:solidFill>
                <a:latin typeface="Arial"/>
                <a:ea typeface="Arial"/>
                <a:cs typeface="Arial"/>
              </a:rPr>
              <a:t>MATCHLY  /  PROJECT ANALYSIS</a:t>
            </a:r>
          </a:p>
        </p:txBody>
      </p:sp>
      <p:sp>
        <p:nvSpPr>
          <p:cNvPr id="4" name="">
            <a:extLst xmlns:a="http://schemas.openxmlformats.org/drawingml/2006/main">
              <a:ext uri="{FF2B5EF4-FFF2-40B4-BE49-F238E27FC236}">
                <a16:creationId xmlns:a16="http://schemas.microsoft.com/office/drawing/2014/main" id="{7046E11E-6065-44A4-815C-E24B87ED3FB6}"/>
              </a:ext>
            </a:extLst>
          </p:cNvPr>
          <p:cNvSpPr>
            <a:spLocks xmlns:a="http://schemas.openxmlformats.org/drawingml/2006/main" noGrp="1"/>
          </p:cNvSpPr>
          <p:nvPr/>
        </p:nvSpPr>
        <p:spPr>
          <a:xfrm xmlns:a="http://schemas.openxmlformats.org/drawingml/2006/main">
            <a:off x="10572750"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AB9C7"/>
                </a:solidFill>
                <a:latin typeface="Arial"/>
                <a:ea typeface="Arial"/>
                <a:cs typeface="Arial"/>
              </a:defRPr>
            </a:defPPr>
          </a:lstStyle>
          <a:p xmlns:a="http://schemas.openxmlformats.org/drawingml/2006/main">
            <a:pPr>
              <a:defRPr sz="975" b="0">
                <a:solidFill>
                  <a:srgbClr val="AAB9C7"/>
                </a:solidFill>
                <a:latin typeface="Arial"/>
                <a:ea typeface="Arial"/>
                <a:cs typeface="Arial"/>
              </a:defRPr>
            </a:pPr>
            <a:r>
              <a:rPr sz="975" b="0">
                <a:solidFill>
                  <a:srgbClr val="AAB9C7"/>
                </a:solidFill>
                <a:latin typeface="Arial"/>
                <a:ea typeface="Arial"/>
                <a:cs typeface="Arial"/>
              </a:rPr>
              <a:t>12 / 12</a:t>
            </a:r>
          </a:p>
        </p:txBody>
      </p:sp>
      <p:sp>
        <p:nvSpPr>
          <p:cNvPr id="5" name="">
            <a:extLst xmlns:a="http://schemas.openxmlformats.org/drawingml/2006/main">
              <a:ext uri="{FF2B5EF4-FFF2-40B4-BE49-F238E27FC236}">
                <a16:creationId xmlns:a16="http://schemas.microsoft.com/office/drawing/2014/main" id="{AD51EBD7-9086-4C4C-8BC5-674622678E0D}"/>
              </a:ext>
            </a:extLst>
          </p:cNvPr>
          <p:cNvSpPr>
            <a:spLocks xmlns:a="http://schemas.openxmlformats.org/drawingml/2006/main" noGrp="1"/>
          </p:cNvSpPr>
          <p:nvPr/>
        </p:nvSpPr>
        <p:spPr>
          <a:xfrm xmlns:a="http://schemas.openxmlformats.org/drawingml/2006/main">
            <a:off x="609600" y="20955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DE0CC"/>
                </a:solidFill>
                <a:latin typeface="Arial"/>
                <a:ea typeface="Arial"/>
                <a:cs typeface="Arial"/>
              </a:defRPr>
            </a:defPPr>
          </a:lstStyle>
          <a:p xmlns:a="http://schemas.openxmlformats.org/drawingml/2006/main">
            <a:pPr>
              <a:defRPr sz="2025" b="1">
                <a:solidFill>
                  <a:srgbClr val="7DE0CC"/>
                </a:solidFill>
                <a:latin typeface="Arial"/>
                <a:ea typeface="Arial"/>
                <a:cs typeface="Arial"/>
              </a:defRPr>
            </a:pPr>
            <a:r>
              <a:rPr sz="2025" b="1">
                <a:solidFill>
                  <a:srgbClr val="7DE0CC"/>
                </a:solidFill>
                <a:latin typeface="Arial"/>
                <a:ea typeface="Arial"/>
                <a:cs typeface="Arial"/>
              </a:rPr>
              <a:t>First  /  Control</a:t>
            </a:r>
          </a:p>
        </p:txBody>
      </p:sp>
      <p:sp>
        <p:nvSpPr>
          <p:cNvPr id="6" name="">
            <a:extLst xmlns:a="http://schemas.openxmlformats.org/drawingml/2006/main">
              <a:ext uri="{FF2B5EF4-FFF2-40B4-BE49-F238E27FC236}">
                <a16:creationId xmlns:a16="http://schemas.microsoft.com/office/drawing/2014/main" id="{6AEA303E-6C6F-46E0-A050-3F050367B4DB}"/>
              </a:ext>
            </a:extLst>
          </p:cNvPr>
          <p:cNvSpPr>
            <a:spLocks xmlns:a="http://schemas.openxmlformats.org/drawingml/2006/main" noGrp="1"/>
          </p:cNvSpPr>
          <p:nvPr/>
        </p:nvSpPr>
        <p:spPr>
          <a:xfrm xmlns:a="http://schemas.openxmlformats.org/drawingml/2006/main">
            <a:off x="3714750" y="20955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Add real authentication and tenant checks. Fix quantity aggregation, validation and atomic matching.</a:t>
            </a:r>
          </a:p>
        </p:txBody>
      </p:sp>
      <p:sp>
        <p:nvSpPr>
          <p:cNvPr id="7" name="">
            <a:extLst xmlns:a="http://schemas.openxmlformats.org/drawingml/2006/main">
              <a:ext uri="{FF2B5EF4-FFF2-40B4-BE49-F238E27FC236}">
                <a16:creationId xmlns:a16="http://schemas.microsoft.com/office/drawing/2014/main" id="{86A4D1CB-C966-47CD-910A-D34C91CEE8D1}"/>
              </a:ext>
            </a:extLst>
          </p:cNvPr>
          <p:cNvSpPr>
            <a:spLocks xmlns:a="http://schemas.openxmlformats.org/drawingml/2006/main" noGrp="1"/>
          </p:cNvSpPr>
          <p:nvPr/>
        </p:nvSpPr>
        <p:spPr>
          <a:xfrm xmlns:a="http://schemas.openxmlformats.org/drawingml/2006/main">
            <a:off x="609600" y="306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DE0CC"/>
                </a:solidFill>
                <a:latin typeface="Arial"/>
                <a:ea typeface="Arial"/>
                <a:cs typeface="Arial"/>
              </a:defRPr>
            </a:defPPr>
          </a:lstStyle>
          <a:p xmlns:a="http://schemas.openxmlformats.org/drawingml/2006/main">
            <a:pPr>
              <a:defRPr sz="2025" b="1">
                <a:solidFill>
                  <a:srgbClr val="7DE0CC"/>
                </a:solidFill>
                <a:latin typeface="Arial"/>
                <a:ea typeface="Arial"/>
                <a:cs typeface="Arial"/>
              </a:defRPr>
            </a:pPr>
            <a:r>
              <a:rPr sz="2025" b="1">
                <a:solidFill>
                  <a:srgbClr val="7DE0CC"/>
                </a:solidFill>
                <a:latin typeface="Arial"/>
                <a:ea typeface="Arial"/>
                <a:cs typeface="Arial"/>
              </a:rPr>
              <a:t>Next  /  Complete</a:t>
            </a:r>
          </a:p>
        </p:txBody>
      </p:sp>
      <p:sp>
        <p:nvSpPr>
          <p:cNvPr id="8" name="">
            <a:extLst xmlns:a="http://schemas.openxmlformats.org/drawingml/2006/main">
              <a:ext uri="{FF2B5EF4-FFF2-40B4-BE49-F238E27FC236}">
                <a16:creationId xmlns:a16="http://schemas.microsoft.com/office/drawing/2014/main" id="{2D9BB4B6-DD26-4F97-9955-BA3CAE23DC49}"/>
              </a:ext>
            </a:extLst>
          </p:cNvPr>
          <p:cNvSpPr>
            <a:spLocks xmlns:a="http://schemas.openxmlformats.org/drawingml/2006/main" noGrp="1"/>
          </p:cNvSpPr>
          <p:nvPr/>
        </p:nvSpPr>
        <p:spPr>
          <a:xfrm xmlns:a="http://schemas.openxmlformats.org/drawingml/2006/main">
            <a:off x="3714750" y="30670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Connect actual uploads and extraction. Persist edits and preserve match and export history.</a:t>
            </a:r>
          </a:p>
        </p:txBody>
      </p:sp>
      <p:sp>
        <p:nvSpPr>
          <p:cNvPr id="9" name="">
            <a:extLst xmlns:a="http://schemas.openxmlformats.org/drawingml/2006/main">
              <a:ext uri="{FF2B5EF4-FFF2-40B4-BE49-F238E27FC236}">
                <a16:creationId xmlns:a16="http://schemas.microsoft.com/office/drawing/2014/main" id="{59265BF5-1E8D-4C4E-9ABD-5F9045E80DCB}"/>
              </a:ext>
            </a:extLst>
          </p:cNvPr>
          <p:cNvSpPr>
            <a:spLocks xmlns:a="http://schemas.openxmlformats.org/drawingml/2006/main" noGrp="1"/>
          </p:cNvSpPr>
          <p:nvPr/>
        </p:nvSpPr>
        <p:spPr>
          <a:xfrm xmlns:a="http://schemas.openxmlformats.org/drawingml/2006/main">
            <a:off x="609600" y="40386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DE0CC"/>
                </a:solidFill>
                <a:latin typeface="Arial"/>
                <a:ea typeface="Arial"/>
                <a:cs typeface="Arial"/>
              </a:defRPr>
            </a:defPPr>
          </a:lstStyle>
          <a:p xmlns:a="http://schemas.openxmlformats.org/drawingml/2006/main">
            <a:pPr>
              <a:defRPr sz="2025" b="1">
                <a:solidFill>
                  <a:srgbClr val="7DE0CC"/>
                </a:solidFill>
                <a:latin typeface="Arial"/>
                <a:ea typeface="Arial"/>
                <a:cs typeface="Arial"/>
              </a:defRPr>
            </a:pPr>
            <a:r>
              <a:rPr sz="2025" b="1">
                <a:solidFill>
                  <a:srgbClr val="7DE0CC"/>
                </a:solidFill>
                <a:latin typeface="Arial"/>
                <a:ea typeface="Arial"/>
                <a:cs typeface="Arial"/>
              </a:rPr>
              <a:t>Then  /  Validate</a:t>
            </a:r>
          </a:p>
        </p:txBody>
      </p:sp>
      <p:sp>
        <p:nvSpPr>
          <p:cNvPr id="10" name="">
            <a:extLst xmlns:a="http://schemas.openxmlformats.org/drawingml/2006/main">
              <a:ext uri="{FF2B5EF4-FFF2-40B4-BE49-F238E27FC236}">
                <a16:creationId xmlns:a16="http://schemas.microsoft.com/office/drawing/2014/main" id="{87133B89-851A-4111-97B2-9975E05DA02C}"/>
              </a:ext>
            </a:extLst>
          </p:cNvPr>
          <p:cNvSpPr>
            <a:spLocks xmlns:a="http://schemas.openxmlformats.org/drawingml/2006/main" noGrp="1"/>
          </p:cNvSpPr>
          <p:nvPr/>
        </p:nvSpPr>
        <p:spPr>
          <a:xfrm xmlns:a="http://schemas.openxmlformats.org/drawingml/2006/main">
            <a:off x="3714750" y="403860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Run realistic document and permission tests. Reconcile dashboard metrics against source transactions.</a:t>
            </a:r>
          </a:p>
        </p:txBody>
      </p:sp>
      <p:sp>
        <p:nvSpPr>
          <p:cNvPr id="11" name="">
            <a:extLst xmlns:a="http://schemas.openxmlformats.org/drawingml/2006/main">
              <a:ext uri="{FF2B5EF4-FFF2-40B4-BE49-F238E27FC236}">
                <a16:creationId xmlns:a16="http://schemas.microsoft.com/office/drawing/2014/main" id="{F990B6C1-158A-4E39-B7E3-B31FB4694749}"/>
              </a:ext>
            </a:extLst>
          </p:cNvPr>
          <p:cNvSpPr>
            <a:spLocks xmlns:a="http://schemas.openxmlformats.org/drawingml/2006/main" noGrp="1"/>
          </p:cNvSpPr>
          <p:nvPr/>
        </p:nvSpPr>
        <p:spPr>
          <a:xfrm xmlns:a="http://schemas.openxmlformats.org/drawingml/2006/main">
            <a:off x="609600" y="50101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DE0CC"/>
                </a:solidFill>
                <a:latin typeface="Arial"/>
                <a:ea typeface="Arial"/>
                <a:cs typeface="Arial"/>
              </a:defRPr>
            </a:defPPr>
          </a:lstStyle>
          <a:p xmlns:a="http://schemas.openxmlformats.org/drawingml/2006/main">
            <a:pPr>
              <a:defRPr sz="2025" b="1">
                <a:solidFill>
                  <a:srgbClr val="7DE0CC"/>
                </a:solidFill>
                <a:latin typeface="Arial"/>
                <a:ea typeface="Arial"/>
                <a:cs typeface="Arial"/>
              </a:defRPr>
            </a:pPr>
            <a:r>
              <a:rPr sz="2025" b="1">
                <a:solidFill>
                  <a:srgbClr val="7DE0CC"/>
                </a:solidFill>
                <a:latin typeface="Arial"/>
                <a:ea typeface="Arial"/>
                <a:cs typeface="Arial"/>
              </a:rPr>
              <a:t>Pilot gate</a:t>
            </a:r>
          </a:p>
        </p:txBody>
      </p:sp>
      <p:sp>
        <p:nvSpPr>
          <p:cNvPr id="12" name="">
            <a:extLst xmlns:a="http://schemas.openxmlformats.org/drawingml/2006/main">
              <a:ext uri="{FF2B5EF4-FFF2-40B4-BE49-F238E27FC236}">
                <a16:creationId xmlns:a16="http://schemas.microsoft.com/office/drawing/2014/main" id="{96B9F5B8-DDEB-4EA6-9DAE-79755EB4B444}"/>
              </a:ext>
            </a:extLst>
          </p:cNvPr>
          <p:cNvSpPr>
            <a:spLocks xmlns:a="http://schemas.openxmlformats.org/drawingml/2006/main" noGrp="1"/>
          </p:cNvSpPr>
          <p:nvPr/>
        </p:nvSpPr>
        <p:spPr>
          <a:xfrm xmlns:a="http://schemas.openxmlformats.org/drawingml/2006/main">
            <a:off x="3714750" y="50101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Meet the PRD’s 200-document benchmark with at least 95% agreement against human review.</a:t>
            </a:r>
          </a:p>
        </p:txBody>
      </p:sp>
    </p:spTree>
    <p:extLst>
      <p:ext uri="{BB962C8B-B14F-4D97-AF65-F5344CB8AC3E}">
        <p14:creationId xmlns:p14="http://schemas.microsoft.com/office/powerpoint/2010/main" val="1691653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2026-10-15T19:38:52.2910000Z</dcterms:created>
  <dcterms:modified xsi:type="dcterms:W3CDTF">2026-10-15T19:38:52.2910000Z</dcterms:modified>
</coreProperties>
</file>